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8" r:id="rId1"/>
  </p:sldMasterIdLst>
  <p:notesMasterIdLst>
    <p:notesMasterId r:id="rId24"/>
  </p:notesMasterIdLst>
  <p:sldIdLst>
    <p:sldId id="256" r:id="rId2"/>
    <p:sldId id="260" r:id="rId3"/>
    <p:sldId id="261" r:id="rId4"/>
    <p:sldId id="262" r:id="rId5"/>
    <p:sldId id="263" r:id="rId6"/>
    <p:sldId id="264" r:id="rId7"/>
    <p:sldId id="266" r:id="rId8"/>
    <p:sldId id="265" r:id="rId9"/>
    <p:sldId id="267" r:id="rId10"/>
    <p:sldId id="257" r:id="rId11"/>
    <p:sldId id="258" r:id="rId12"/>
    <p:sldId id="259" r:id="rId13"/>
    <p:sldId id="270" r:id="rId14"/>
    <p:sldId id="271" r:id="rId15"/>
    <p:sldId id="272" r:id="rId16"/>
    <p:sldId id="268" r:id="rId17"/>
    <p:sldId id="274" r:id="rId18"/>
    <p:sldId id="273" r:id="rId19"/>
    <p:sldId id="275" r:id="rId20"/>
    <p:sldId id="276" r:id="rId21"/>
    <p:sldId id="269" r:id="rId22"/>
    <p:sldId id="27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6486" autoAdjust="0"/>
  </p:normalViewPr>
  <p:slideViewPr>
    <p:cSldViewPr snapToGrid="0">
      <p:cViewPr>
        <p:scale>
          <a:sx n="60" d="100"/>
          <a:sy n="60" d="100"/>
        </p:scale>
        <p:origin x="908" y="-2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131BC3-3919-40E1-9691-41D2F6D2E245}" type="datetimeFigureOut">
              <a:rPr lang="en-PH" smtClean="0"/>
              <a:t>7/26/2026</a:t>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C93AF4-5177-4E88-A6A5-0D01B507239F}" type="slidenum">
              <a:rPr lang="en-PH" smtClean="0"/>
              <a:t>‹#›</a:t>
            </a:fld>
            <a:endParaRPr lang="en-PH"/>
          </a:p>
        </p:txBody>
      </p:sp>
    </p:spTree>
    <p:extLst>
      <p:ext uri="{BB962C8B-B14F-4D97-AF65-F5344CB8AC3E}">
        <p14:creationId xmlns:p14="http://schemas.microsoft.com/office/powerpoint/2010/main" val="3863417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dirty="0"/>
              <a:t>In businesses, what’s most important is the decisions that spring from raw data. Knowing how to transform raw data into information, and then into knowledge that is helpful for a business would be greatly beneficial in expediting business growth.</a:t>
            </a:r>
          </a:p>
        </p:txBody>
      </p:sp>
      <p:sp>
        <p:nvSpPr>
          <p:cNvPr id="4" name="Slide Number Placeholder 3"/>
          <p:cNvSpPr>
            <a:spLocks noGrp="1"/>
          </p:cNvSpPr>
          <p:nvPr>
            <p:ph type="sldNum" sz="quarter" idx="5"/>
          </p:nvPr>
        </p:nvSpPr>
        <p:spPr/>
        <p:txBody>
          <a:bodyPr/>
          <a:lstStyle/>
          <a:p>
            <a:fld id="{85C93AF4-5177-4E88-A6A5-0D01B507239F}" type="slidenum">
              <a:rPr lang="en-PH" smtClean="0"/>
              <a:t>9</a:t>
            </a:fld>
            <a:endParaRPr lang="en-PH"/>
          </a:p>
        </p:txBody>
      </p:sp>
    </p:spTree>
    <p:extLst>
      <p:ext uri="{BB962C8B-B14F-4D97-AF65-F5344CB8AC3E}">
        <p14:creationId xmlns:p14="http://schemas.microsoft.com/office/powerpoint/2010/main" val="25424690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everyone (from the most uneducated lay person to the most expert information systems specialist, whether they </a:t>
            </a:r>
            <a:r>
              <a:rPr lang="en-US" dirty="0" err="1"/>
              <a:t>realise</a:t>
            </a:r>
            <a:r>
              <a:rPr lang="en-US" dirty="0"/>
              <a:t> it or not) </a:t>
            </a:r>
            <a:endParaRPr lang="en-PH" dirty="0"/>
          </a:p>
        </p:txBody>
      </p:sp>
      <p:sp>
        <p:nvSpPr>
          <p:cNvPr id="4" name="Slide Number Placeholder 3"/>
          <p:cNvSpPr>
            <a:spLocks noGrp="1"/>
          </p:cNvSpPr>
          <p:nvPr>
            <p:ph type="sldNum" sz="quarter" idx="5"/>
          </p:nvPr>
        </p:nvSpPr>
        <p:spPr/>
        <p:txBody>
          <a:bodyPr/>
          <a:lstStyle/>
          <a:p>
            <a:fld id="{85C93AF4-5177-4E88-A6A5-0D01B507239F}" type="slidenum">
              <a:rPr lang="en-PH" smtClean="0"/>
              <a:t>12</a:t>
            </a:fld>
            <a:endParaRPr lang="en-PH"/>
          </a:p>
        </p:txBody>
      </p:sp>
    </p:spTree>
    <p:extLst>
      <p:ext uri="{BB962C8B-B14F-4D97-AF65-F5344CB8AC3E}">
        <p14:creationId xmlns:p14="http://schemas.microsoft.com/office/powerpoint/2010/main" val="29992537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0" indent="-342900">
              <a:lnSpc>
                <a:spcPct val="150000"/>
              </a:lnSpc>
              <a:buFont typeface="+mj-lt"/>
              <a:buAutoNum type="arabicPeriod"/>
              <a:tabLst>
                <a:tab pos="4551680" algn="l"/>
              </a:tabLst>
            </a:pPr>
            <a:r>
              <a:rPr lang="en-PH" sz="1800" dirty="0">
                <a:effectLst/>
                <a:latin typeface="Times New Roman" panose="02020603050405020304" pitchFamily="18" charset="0"/>
                <a:ea typeface="Calibri" panose="020F0502020204030204" pitchFamily="34" charset="0"/>
                <a:cs typeface="Times New Roman" panose="02020603050405020304" pitchFamily="18" charset="0"/>
              </a:rPr>
              <a:t>Who are the characters in this passage? What departments do they work for? </a:t>
            </a:r>
            <a:endParaRPr lang="en-PH"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buFont typeface="+mj-lt"/>
              <a:buAutoNum type="arabicPeriod"/>
              <a:tabLst>
                <a:tab pos="4551680" algn="l"/>
              </a:tabLst>
            </a:pPr>
            <a:r>
              <a:rPr lang="en-PH" sz="1800" dirty="0">
                <a:effectLst/>
                <a:latin typeface="Times New Roman" panose="02020603050405020304" pitchFamily="18" charset="0"/>
                <a:ea typeface="Calibri" panose="020F0502020204030204" pitchFamily="34" charset="0"/>
                <a:cs typeface="Times New Roman" panose="02020603050405020304" pitchFamily="18" charset="0"/>
              </a:rPr>
              <a:t>For each character, which part of the conversation do they clearly care about? How about the parts they don’t understand?</a:t>
            </a:r>
            <a:endParaRPr lang="en-PH"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buFont typeface="+mj-lt"/>
              <a:buAutoNum type="arabicPeriod"/>
              <a:tabLst>
                <a:tab pos="4551680" algn="l"/>
              </a:tabLst>
            </a:pPr>
            <a:r>
              <a:rPr lang="en-PH" sz="1800" dirty="0">
                <a:effectLst/>
                <a:latin typeface="Times New Roman" panose="02020603050405020304" pitchFamily="18" charset="0"/>
                <a:ea typeface="Calibri" panose="020F0502020204030204" pitchFamily="34" charset="0"/>
                <a:cs typeface="Times New Roman" panose="02020603050405020304" pitchFamily="18" charset="0"/>
              </a:rPr>
              <a:t>What is the core problem of this conversation? What were the goals, language, and priorities of all parties involved? Do they connect?</a:t>
            </a:r>
            <a:endParaRPr lang="en-PH"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buFont typeface="+mj-lt"/>
              <a:buAutoNum type="arabicPeriod"/>
              <a:tabLst>
                <a:tab pos="4551680" algn="l"/>
              </a:tabLst>
            </a:pPr>
            <a:r>
              <a:rPr lang="en-PH" sz="1800" dirty="0">
                <a:effectLst/>
                <a:latin typeface="Times New Roman" panose="02020603050405020304" pitchFamily="18" charset="0"/>
                <a:ea typeface="Calibri" panose="020F0502020204030204" pitchFamily="34" charset="0"/>
                <a:cs typeface="Times New Roman" panose="02020603050405020304" pitchFamily="18" charset="0"/>
              </a:rPr>
              <a:t>Sara walked away before any requirements were agreed upon. Imagine that Gerry starts building the new personalized homepage tomorrow using only what he heard in this conversation. List three specific things that could go wrong with the final product from Sara's perspective.</a:t>
            </a:r>
            <a:endParaRPr lang="en-PH"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800"/>
              </a:spcAft>
              <a:buFont typeface="+mj-lt"/>
              <a:buAutoNum type="arabicPeriod"/>
              <a:tabLst>
                <a:tab pos="4551680" algn="l"/>
              </a:tabLst>
            </a:pPr>
            <a:r>
              <a:rPr lang="en-PH" sz="1800" dirty="0">
                <a:effectLst/>
                <a:latin typeface="Times New Roman" panose="02020603050405020304" pitchFamily="18" charset="0"/>
                <a:ea typeface="Calibri" panose="020F0502020204030204" pitchFamily="34" charset="0"/>
                <a:cs typeface="Times New Roman" panose="02020603050405020304" pitchFamily="18" charset="0"/>
              </a:rPr>
              <a:t>As a consultant hired by this company, recommend </a:t>
            </a:r>
            <a:r>
              <a:rPr lang="en-PH" sz="1800" b="1" dirty="0">
                <a:effectLst/>
                <a:latin typeface="Times New Roman" panose="02020603050405020304" pitchFamily="18" charset="0"/>
                <a:ea typeface="Calibri" panose="020F0502020204030204" pitchFamily="34" charset="0"/>
                <a:cs typeface="Times New Roman" panose="02020603050405020304" pitchFamily="18" charset="0"/>
              </a:rPr>
              <a:t>one practical change</a:t>
            </a:r>
            <a:r>
              <a:rPr lang="en-PH" sz="1800" dirty="0">
                <a:effectLst/>
                <a:latin typeface="Times New Roman" panose="02020603050405020304" pitchFamily="18" charset="0"/>
                <a:ea typeface="Calibri" panose="020F0502020204030204" pitchFamily="34" charset="0"/>
                <a:cs typeface="Times New Roman" panose="02020603050405020304" pitchFamily="18" charset="0"/>
              </a:rPr>
              <a:t> on how the different teams in this passage interact.</a:t>
            </a:r>
            <a:endParaRPr lang="en-PH"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PH" dirty="0"/>
          </a:p>
        </p:txBody>
      </p:sp>
      <p:sp>
        <p:nvSpPr>
          <p:cNvPr id="4" name="Slide Number Placeholder 3"/>
          <p:cNvSpPr>
            <a:spLocks noGrp="1"/>
          </p:cNvSpPr>
          <p:nvPr>
            <p:ph type="sldNum" sz="quarter" idx="5"/>
          </p:nvPr>
        </p:nvSpPr>
        <p:spPr/>
        <p:txBody>
          <a:bodyPr/>
          <a:lstStyle/>
          <a:p>
            <a:fld id="{85C93AF4-5177-4E88-A6A5-0D01B507239F}" type="slidenum">
              <a:rPr lang="en-PH" smtClean="0"/>
              <a:t>16</a:t>
            </a:fld>
            <a:endParaRPr lang="en-PH"/>
          </a:p>
        </p:txBody>
      </p:sp>
    </p:spTree>
    <p:extLst>
      <p:ext uri="{BB962C8B-B14F-4D97-AF65-F5344CB8AC3E}">
        <p14:creationId xmlns:p14="http://schemas.microsoft.com/office/powerpoint/2010/main" val="9906316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worlds intersect in a way that makes clear the joint area that is so difficult (but so important) to manage. </a:t>
            </a:r>
          </a:p>
          <a:p>
            <a:endParaRPr lang="en-US" dirty="0"/>
          </a:p>
          <a:p>
            <a:r>
              <a:rPr lang="en-US" dirty="0"/>
              <a:t>Rather than a wall, or chasm, he suggests that there is an area of common concern that we must understand and work with so as to make sure that information technology makes a good and proper contribution to society at large and business in particular.</a:t>
            </a:r>
          </a:p>
          <a:p>
            <a:endParaRPr lang="en-US" dirty="0"/>
          </a:p>
          <a:p>
            <a:r>
              <a:rPr lang="en-US" dirty="0"/>
              <a:t>Hence, it is the overlap between the world of IT and the world of “the business” that needs to be managed, not a chasm.</a:t>
            </a:r>
            <a:endParaRPr lang="en-PH" dirty="0"/>
          </a:p>
        </p:txBody>
      </p:sp>
      <p:sp>
        <p:nvSpPr>
          <p:cNvPr id="4" name="Slide Number Placeholder 3"/>
          <p:cNvSpPr>
            <a:spLocks noGrp="1"/>
          </p:cNvSpPr>
          <p:nvPr>
            <p:ph type="sldNum" sz="quarter" idx="5"/>
          </p:nvPr>
        </p:nvSpPr>
        <p:spPr/>
        <p:txBody>
          <a:bodyPr/>
          <a:lstStyle/>
          <a:p>
            <a:fld id="{85C93AF4-5177-4E88-A6A5-0D01B507239F}" type="slidenum">
              <a:rPr lang="en-PH" smtClean="0"/>
              <a:t>17</a:t>
            </a:fld>
            <a:endParaRPr lang="en-PH"/>
          </a:p>
        </p:txBody>
      </p:sp>
    </p:spTree>
    <p:extLst>
      <p:ext uri="{BB962C8B-B14F-4D97-AF65-F5344CB8AC3E}">
        <p14:creationId xmlns:p14="http://schemas.microsoft.com/office/powerpoint/2010/main" val="12094103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New Role:</a:t>
            </a:r>
            <a:r>
              <a:rPr lang="en-US" dirty="0"/>
              <a:t> Transitioning from "systems analysts" (requirements) to </a:t>
            </a:r>
            <a:r>
              <a:rPr lang="en-US" b="1" dirty="0"/>
              <a:t>business analysts</a:t>
            </a:r>
            <a:r>
              <a:rPr lang="en-US" dirty="0"/>
              <a:t> (wholesale change)</a:t>
            </a:r>
            <a:endParaRPr lang="en-PH" dirty="0"/>
          </a:p>
        </p:txBody>
      </p:sp>
      <p:sp>
        <p:nvSpPr>
          <p:cNvPr id="4" name="Slide Number Placeholder 3"/>
          <p:cNvSpPr>
            <a:spLocks noGrp="1"/>
          </p:cNvSpPr>
          <p:nvPr>
            <p:ph type="sldNum" sz="quarter" idx="5"/>
          </p:nvPr>
        </p:nvSpPr>
        <p:spPr/>
        <p:txBody>
          <a:bodyPr/>
          <a:lstStyle/>
          <a:p>
            <a:fld id="{85C93AF4-5177-4E88-A6A5-0D01B507239F}" type="slidenum">
              <a:rPr lang="en-PH" smtClean="0"/>
              <a:t>18</a:t>
            </a:fld>
            <a:endParaRPr lang="en-PH"/>
          </a:p>
        </p:txBody>
      </p:sp>
    </p:spTree>
    <p:extLst>
      <p:ext uri="{BB962C8B-B14F-4D97-AF65-F5344CB8AC3E}">
        <p14:creationId xmlns:p14="http://schemas.microsoft.com/office/powerpoint/2010/main" val="39854804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four-stage sequence reminds us that—conventionally—we have to</a:t>
            </a:r>
          </a:p>
          <a:p>
            <a:r>
              <a:rPr lang="en-US" i="1" dirty="0"/>
              <a:t>think</a:t>
            </a:r>
            <a:r>
              <a:rPr lang="en-US" dirty="0"/>
              <a:t> about what we hope to be able to do, make </a:t>
            </a:r>
            <a:r>
              <a:rPr lang="en-US" i="1" dirty="0"/>
              <a:t>plans</a:t>
            </a:r>
            <a:r>
              <a:rPr lang="en-US" dirty="0"/>
              <a:t> that ensure that we have all</a:t>
            </a:r>
          </a:p>
          <a:p>
            <a:r>
              <a:rPr lang="en-US" dirty="0"/>
              <a:t>the financial, human and material resources needed, execute the plan by means of</a:t>
            </a:r>
          </a:p>
          <a:p>
            <a:r>
              <a:rPr lang="en-US" dirty="0"/>
              <a:t>appropriate actions and finally check that all went as intended and that the desired</a:t>
            </a:r>
          </a:p>
          <a:p>
            <a:r>
              <a:rPr lang="en-US" dirty="0"/>
              <a:t>results were obtained.</a:t>
            </a:r>
            <a:endParaRPr lang="en-PH" dirty="0"/>
          </a:p>
        </p:txBody>
      </p:sp>
      <p:sp>
        <p:nvSpPr>
          <p:cNvPr id="4" name="Slide Number Placeholder 3"/>
          <p:cNvSpPr>
            <a:spLocks noGrp="1"/>
          </p:cNvSpPr>
          <p:nvPr>
            <p:ph type="sldNum" sz="quarter" idx="5"/>
          </p:nvPr>
        </p:nvSpPr>
        <p:spPr/>
        <p:txBody>
          <a:bodyPr/>
          <a:lstStyle/>
          <a:p>
            <a:fld id="{85C93AF4-5177-4E88-A6A5-0D01B507239F}" type="slidenum">
              <a:rPr lang="en-PH" smtClean="0"/>
              <a:t>19</a:t>
            </a:fld>
            <a:endParaRPr lang="en-PH"/>
          </a:p>
        </p:txBody>
      </p:sp>
    </p:spTree>
    <p:extLst>
      <p:ext uri="{BB962C8B-B14F-4D97-AF65-F5344CB8AC3E}">
        <p14:creationId xmlns:p14="http://schemas.microsoft.com/office/powerpoint/2010/main" val="22656979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Individuals are employees within businesses, and yet they are customers; individuals are tax payers and yet they may work as public servants; virtually all individuals would admit to living within communities, another context within which different needs and priorities emerge.</a:t>
            </a:r>
          </a:p>
          <a:p>
            <a:endParaRPr lang="en-US" dirty="0"/>
          </a:p>
          <a:p>
            <a:r>
              <a:rPr lang="en-US" dirty="0"/>
              <a:t>With this high-level view in mind, we can begin to understand that one technology—let us think of the smart phone, or the “tablet”?—can impact on one or all</a:t>
            </a:r>
          </a:p>
          <a:p>
            <a:r>
              <a:rPr lang="en-US" dirty="0"/>
              <a:t>of these stakeholder groups at the same time, but differently. The impact might be advantageous to one group but not to the others. This view of our world is a useful reminder that there are patterns of dependency within which we live, work and pay our taxes.</a:t>
            </a:r>
            <a:endParaRPr lang="en-PH" dirty="0"/>
          </a:p>
        </p:txBody>
      </p:sp>
      <p:sp>
        <p:nvSpPr>
          <p:cNvPr id="4" name="Slide Number Placeholder 3"/>
          <p:cNvSpPr>
            <a:spLocks noGrp="1"/>
          </p:cNvSpPr>
          <p:nvPr>
            <p:ph type="sldNum" sz="quarter" idx="5"/>
          </p:nvPr>
        </p:nvSpPr>
        <p:spPr/>
        <p:txBody>
          <a:bodyPr/>
          <a:lstStyle/>
          <a:p>
            <a:fld id="{85C93AF4-5177-4E88-A6A5-0D01B507239F}" type="slidenum">
              <a:rPr lang="en-PH" smtClean="0"/>
              <a:t>21</a:t>
            </a:fld>
            <a:endParaRPr lang="en-PH"/>
          </a:p>
        </p:txBody>
      </p:sp>
    </p:spTree>
    <p:extLst>
      <p:ext uri="{BB962C8B-B14F-4D97-AF65-F5344CB8AC3E}">
        <p14:creationId xmlns:p14="http://schemas.microsoft.com/office/powerpoint/2010/main" val="9355796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spc="3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Date Placeholder 7"/>
          <p:cNvSpPr>
            <a:spLocks noGrp="1"/>
          </p:cNvSpPr>
          <p:nvPr>
            <p:ph type="dt" sz="half" idx="10"/>
          </p:nvPr>
        </p:nvSpPr>
        <p:spPr/>
        <p:txBody>
          <a:bodyPr/>
          <a:lstStyle/>
          <a:p>
            <a:fld id="{3879D257-D3F5-4163-ACAD-C801DA7AF7D1}" type="datetimeFigureOut">
              <a:rPr lang="en-PH" smtClean="0"/>
              <a:t>7/26/2026</a:t>
            </a:fld>
            <a:endParaRPr lang="en-PH"/>
          </a:p>
        </p:txBody>
      </p:sp>
      <p:sp>
        <p:nvSpPr>
          <p:cNvPr id="9" name="Footer Placeholder 8"/>
          <p:cNvSpPr>
            <a:spLocks noGrp="1"/>
          </p:cNvSpPr>
          <p:nvPr>
            <p:ph type="ftr" sz="quarter" idx="11"/>
          </p:nvPr>
        </p:nvSpPr>
        <p:spPr/>
        <p:txBody>
          <a:bodyPr/>
          <a:lstStyle/>
          <a:p>
            <a:endParaRPr lang="en-PH"/>
          </a:p>
        </p:txBody>
      </p:sp>
      <p:sp>
        <p:nvSpPr>
          <p:cNvPr id="10" name="Slide Number Placeholder 9"/>
          <p:cNvSpPr>
            <a:spLocks noGrp="1"/>
          </p:cNvSpPr>
          <p:nvPr>
            <p:ph type="sldNum" sz="quarter" idx="12"/>
          </p:nvPr>
        </p:nvSpPr>
        <p:spPr/>
        <p:txBody>
          <a:bodyPr/>
          <a:lstStyle/>
          <a:p>
            <a:fld id="{8748CD89-4C61-4C29-9097-B98A266E205B}" type="slidenum">
              <a:rPr lang="en-PH" smtClean="0"/>
              <a:t>‹#›</a:t>
            </a:fld>
            <a:endParaRPr lang="en-PH"/>
          </a:p>
        </p:txBody>
      </p:sp>
      <p:sp>
        <p:nvSpPr>
          <p:cNvPr id="11" name="Rectangle 10"/>
          <p:cNvSpPr/>
          <p:nvPr/>
        </p:nvSpPr>
        <p:spPr>
          <a:xfrm>
            <a:off x="11292840" y="0"/>
            <a:ext cx="914400" cy="6858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92130275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879D257-D3F5-4163-ACAD-C801DA7AF7D1}" type="datetimeFigureOut">
              <a:rPr lang="en-PH" smtClean="0"/>
              <a:t>7/26/2026</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8748CD89-4C61-4C29-9097-B98A266E205B}" type="slidenum">
              <a:rPr lang="en-PH" smtClean="0"/>
              <a:t>‹#›</a:t>
            </a:fld>
            <a:endParaRPr lang="en-PH"/>
          </a:p>
        </p:txBody>
      </p:sp>
    </p:spTree>
    <p:extLst>
      <p:ext uri="{BB962C8B-B14F-4D97-AF65-F5344CB8AC3E}">
        <p14:creationId xmlns:p14="http://schemas.microsoft.com/office/powerpoint/2010/main" val="19105825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spc="30" baseline="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879D257-D3F5-4163-ACAD-C801DA7AF7D1}" type="datetimeFigureOut">
              <a:rPr lang="en-PH" smtClean="0"/>
              <a:t>7/26/2026</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8748CD89-4C61-4C29-9097-B98A266E205B}" type="slidenum">
              <a:rPr lang="en-PH" smtClean="0"/>
              <a:t>‹#›</a:t>
            </a:fld>
            <a:endParaRPr lang="en-PH"/>
          </a:p>
        </p:txBody>
      </p:sp>
      <p:sp>
        <p:nvSpPr>
          <p:cNvPr id="8" name="Rectangle 7"/>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0961787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79D257-D3F5-4163-ACAD-C801DA7AF7D1}" type="datetimeFigureOut">
              <a:rPr lang="en-PH" smtClean="0"/>
              <a:t>7/26/2026</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8748CD89-4C61-4C29-9097-B98A266E205B}" type="slidenum">
              <a:rPr lang="en-PH" smtClean="0"/>
              <a:t>‹#›</a:t>
            </a:fld>
            <a:endParaRPr lang="en-PH"/>
          </a:p>
        </p:txBody>
      </p:sp>
    </p:spTree>
    <p:extLst>
      <p:ext uri="{BB962C8B-B14F-4D97-AF65-F5344CB8AC3E}">
        <p14:creationId xmlns:p14="http://schemas.microsoft.com/office/powerpoint/2010/main" val="22233033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21606"/>
            <a:ext cx="4480560" cy="731520"/>
          </a:xfrm>
        </p:spPr>
        <p:txBody>
          <a:bodyPr anchor="b">
            <a:normAutofit/>
          </a:bodyPr>
          <a:lstStyle>
            <a:lvl1pPr marL="0" indent="0">
              <a:spcBef>
                <a:spcPts val="0"/>
              </a:spcBef>
              <a:buNone/>
              <a:defRPr sz="2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3"/>
          </p:nvPr>
        </p:nvSpPr>
        <p:spPr>
          <a:xfrm>
            <a:off x="6126480" y="1721606"/>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879D257-D3F5-4163-ACAD-C801DA7AF7D1}" type="datetimeFigureOut">
              <a:rPr lang="en-PH" smtClean="0"/>
              <a:t>7/26/2026</a:t>
            </a:fld>
            <a:endParaRPr lang="en-PH"/>
          </a:p>
        </p:txBody>
      </p:sp>
      <p:sp>
        <p:nvSpPr>
          <p:cNvPr id="8" name="Footer Placeholder 7"/>
          <p:cNvSpPr>
            <a:spLocks noGrp="1"/>
          </p:cNvSpPr>
          <p:nvPr>
            <p:ph type="ftr" sz="quarter" idx="11"/>
          </p:nvPr>
        </p:nvSpPr>
        <p:spPr/>
        <p:txBody>
          <a:bodyPr/>
          <a:lstStyle/>
          <a:p>
            <a:endParaRPr lang="en-PH"/>
          </a:p>
        </p:txBody>
      </p:sp>
      <p:sp>
        <p:nvSpPr>
          <p:cNvPr id="9" name="Slide Number Placeholder 8"/>
          <p:cNvSpPr>
            <a:spLocks noGrp="1"/>
          </p:cNvSpPr>
          <p:nvPr>
            <p:ph type="sldNum" sz="quarter" idx="12"/>
          </p:nvPr>
        </p:nvSpPr>
        <p:spPr/>
        <p:txBody>
          <a:bodyPr/>
          <a:lstStyle/>
          <a:p>
            <a:fld id="{8748CD89-4C61-4C29-9097-B98A266E205B}" type="slidenum">
              <a:rPr lang="en-PH" smtClean="0"/>
              <a:t>‹#›</a:t>
            </a:fld>
            <a:endParaRPr lang="en-PH"/>
          </a:p>
        </p:txBody>
      </p:sp>
    </p:spTree>
    <p:extLst>
      <p:ext uri="{BB962C8B-B14F-4D97-AF65-F5344CB8AC3E}">
        <p14:creationId xmlns:p14="http://schemas.microsoft.com/office/powerpoint/2010/main" val="10285619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879D257-D3F5-4163-ACAD-C801DA7AF7D1}" type="datetimeFigureOut">
              <a:rPr lang="en-PH" smtClean="0"/>
              <a:t>7/26/2026</a:t>
            </a:fld>
            <a:endParaRPr lang="en-PH"/>
          </a:p>
        </p:txBody>
      </p:sp>
      <p:sp>
        <p:nvSpPr>
          <p:cNvPr id="4" name="Footer Placeholder 3"/>
          <p:cNvSpPr>
            <a:spLocks noGrp="1"/>
          </p:cNvSpPr>
          <p:nvPr>
            <p:ph type="ftr" sz="quarter" idx="11"/>
          </p:nvPr>
        </p:nvSpPr>
        <p:spPr/>
        <p:txBody>
          <a:bodyPr/>
          <a:lstStyle/>
          <a:p>
            <a:endParaRPr lang="en-PH"/>
          </a:p>
        </p:txBody>
      </p:sp>
      <p:sp>
        <p:nvSpPr>
          <p:cNvPr id="5" name="Slide Number Placeholder 4"/>
          <p:cNvSpPr>
            <a:spLocks noGrp="1"/>
          </p:cNvSpPr>
          <p:nvPr>
            <p:ph type="sldNum" sz="quarter" idx="12"/>
          </p:nvPr>
        </p:nvSpPr>
        <p:spPr/>
        <p:txBody>
          <a:bodyPr/>
          <a:lstStyle/>
          <a:p>
            <a:fld id="{8748CD89-4C61-4C29-9097-B98A266E205B}" type="slidenum">
              <a:rPr lang="en-PH" smtClean="0"/>
              <a:t>‹#›</a:t>
            </a:fld>
            <a:endParaRPr lang="en-PH"/>
          </a:p>
        </p:txBody>
      </p:sp>
    </p:spTree>
    <p:extLst>
      <p:ext uri="{BB962C8B-B14F-4D97-AF65-F5344CB8AC3E}">
        <p14:creationId xmlns:p14="http://schemas.microsoft.com/office/powerpoint/2010/main" val="26259472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879D257-D3F5-4163-ACAD-C801DA7AF7D1}" type="datetimeFigureOut">
              <a:rPr lang="en-PH" smtClean="0"/>
              <a:t>7/26/2026</a:t>
            </a:fld>
            <a:endParaRPr lang="en-PH"/>
          </a:p>
        </p:txBody>
      </p:sp>
      <p:sp>
        <p:nvSpPr>
          <p:cNvPr id="3" name="Footer Placeholder 2"/>
          <p:cNvSpPr>
            <a:spLocks noGrp="1"/>
          </p:cNvSpPr>
          <p:nvPr>
            <p:ph type="ftr" sz="quarter" idx="11"/>
          </p:nvPr>
        </p:nvSpPr>
        <p:spPr/>
        <p:txBody>
          <a:bodyPr/>
          <a:lstStyle/>
          <a:p>
            <a:endParaRPr lang="en-PH"/>
          </a:p>
        </p:txBody>
      </p:sp>
      <p:sp>
        <p:nvSpPr>
          <p:cNvPr id="4" name="Slide Number Placeholder 3"/>
          <p:cNvSpPr>
            <a:spLocks noGrp="1"/>
          </p:cNvSpPr>
          <p:nvPr>
            <p:ph type="sldNum" sz="quarter" idx="12"/>
          </p:nvPr>
        </p:nvSpPr>
        <p:spPr/>
        <p:txBody>
          <a:bodyPr/>
          <a:lstStyle/>
          <a:p>
            <a:fld id="{8748CD89-4C61-4C29-9097-B98A266E205B}" type="slidenum">
              <a:rPr lang="en-PH" smtClean="0"/>
              <a:t>‹#›</a:t>
            </a:fld>
            <a:endParaRPr lang="en-PH"/>
          </a:p>
        </p:txBody>
      </p:sp>
    </p:spTree>
    <p:extLst>
      <p:ext uri="{BB962C8B-B14F-4D97-AF65-F5344CB8AC3E}">
        <p14:creationId xmlns:p14="http://schemas.microsoft.com/office/powerpoint/2010/main" val="33851240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1"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879D257-D3F5-4163-ACAD-C801DA7AF7D1}" type="datetimeFigureOut">
              <a:rPr lang="en-PH" smtClean="0"/>
              <a:t>7/26/2026</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8748CD89-4C61-4C29-9097-B98A266E205B}" type="slidenum">
              <a:rPr lang="en-PH" smtClean="0"/>
              <a:t>‹#›</a:t>
            </a:fld>
            <a:endParaRPr lang="en-PH"/>
          </a:p>
        </p:txBody>
      </p:sp>
    </p:spTree>
    <p:extLst>
      <p:ext uri="{BB962C8B-B14F-4D97-AF65-F5344CB8AC3E}">
        <p14:creationId xmlns:p14="http://schemas.microsoft.com/office/powerpoint/2010/main" val="39921924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1">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400">
                <a:solidFill>
                  <a:schemeClr val="accent1">
                    <a:lumMod val="20000"/>
                    <a:lumOff val="8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879D257-D3F5-4163-ACAD-C801DA7AF7D1}" type="datetimeFigureOut">
              <a:rPr lang="en-PH" smtClean="0"/>
              <a:t>7/26/2026</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8748CD89-4C61-4C29-9097-B98A266E205B}" type="slidenum">
              <a:rPr lang="en-PH" smtClean="0"/>
              <a:t>‹#›</a:t>
            </a:fld>
            <a:endParaRPr lang="en-PH"/>
          </a:p>
        </p:txBody>
      </p:sp>
    </p:spTree>
    <p:extLst>
      <p:ext uri="{BB962C8B-B14F-4D97-AF65-F5344CB8AC3E}">
        <p14:creationId xmlns:p14="http://schemas.microsoft.com/office/powerpoint/2010/main" val="32031412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879D257-D3F5-4163-ACAD-C801DA7AF7D1}" type="datetimeFigureOut">
              <a:rPr lang="en-PH" smtClean="0"/>
              <a:t>7/26/2026</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8748CD89-4C61-4C29-9097-B98A266E205B}" type="slidenum">
              <a:rPr lang="en-PH" smtClean="0"/>
              <a:t>‹#›</a:t>
            </a:fld>
            <a:endParaRPr lang="en-PH"/>
          </a:p>
        </p:txBody>
      </p:sp>
    </p:spTree>
    <p:extLst>
      <p:ext uri="{BB962C8B-B14F-4D97-AF65-F5344CB8AC3E}">
        <p14:creationId xmlns:p14="http://schemas.microsoft.com/office/powerpoint/2010/main" val="9902101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879D257-D3F5-4163-ACAD-C801DA7AF7D1}" type="datetimeFigureOut">
              <a:rPr lang="en-PH" smtClean="0"/>
              <a:t>7/26/2026</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8748CD89-4C61-4C29-9097-B98A266E205B}" type="slidenum">
              <a:rPr lang="en-PH" smtClean="0"/>
              <a:t>‹#›</a:t>
            </a:fld>
            <a:endParaRPr lang="en-PH"/>
          </a:p>
        </p:txBody>
      </p:sp>
    </p:spTree>
    <p:extLst>
      <p:ext uri="{BB962C8B-B14F-4D97-AF65-F5344CB8AC3E}">
        <p14:creationId xmlns:p14="http://schemas.microsoft.com/office/powerpoint/2010/main" val="24564780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262393"/>
            <a:ext cx="9692640" cy="1428929"/>
          </a:xfrm>
          <a:prstGeom prst="rect">
            <a:avLst/>
          </a:prstGeom>
        </p:spPr>
        <p:txBody>
          <a:bodyPr vert="horz" lIns="91440" tIns="27432"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100" b="0">
                <a:solidFill>
                  <a:schemeClr val="tx2">
                    <a:lumMod val="40000"/>
                    <a:lumOff val="60000"/>
                  </a:schemeClr>
                </a:solidFill>
              </a:defRPr>
            </a:lvl1pPr>
          </a:lstStyle>
          <a:p>
            <a:fld id="{3879D257-D3F5-4163-ACAD-C801DA7AF7D1}" type="datetimeFigureOut">
              <a:rPr lang="en-PH" smtClean="0"/>
              <a:t>7/26/2026</a:t>
            </a:fld>
            <a:endParaRPr lang="en-PH"/>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100">
                <a:solidFill>
                  <a:schemeClr val="tx2">
                    <a:lumMod val="40000"/>
                    <a:lumOff val="60000"/>
                  </a:schemeClr>
                </a:solidFill>
              </a:defRPr>
            </a:lvl1pPr>
          </a:lstStyle>
          <a:p>
            <a:endParaRPr lang="en-PH"/>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latin typeface="+mj-lt"/>
              </a:defRPr>
            </a:lvl1pPr>
          </a:lstStyle>
          <a:p>
            <a:fld id="{8748CD89-4C61-4C29-9097-B98A266E205B}" type="slidenum">
              <a:rPr lang="en-PH" smtClean="0"/>
              <a:t>‹#›</a:t>
            </a:fld>
            <a:endParaRPr lang="en-PH"/>
          </a:p>
        </p:txBody>
      </p:sp>
    </p:spTree>
    <p:extLst>
      <p:ext uri="{BB962C8B-B14F-4D97-AF65-F5344CB8AC3E}">
        <p14:creationId xmlns:p14="http://schemas.microsoft.com/office/powerpoint/2010/main" val="2072185515"/>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Lst>
  <p:txStyles>
    <p:titleStyle>
      <a:lvl1pPr algn="l" defTabSz="914400" rtl="0" eaLnBrk="1" latinLnBrk="0" hangingPunct="1">
        <a:lnSpc>
          <a:spcPct val="90000"/>
        </a:lnSpc>
        <a:spcBef>
          <a:spcPct val="0"/>
        </a:spcBef>
        <a:buNone/>
        <a:defRPr sz="4400" b="1" kern="1200" spc="-50" baseline="0">
          <a:solidFill>
            <a:schemeClr val="accent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lumMod val="65000"/>
              <a:lumOff val="35000"/>
            </a:schemeClr>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www.cambridgeinternational.org/images/285017-data-information-and-knowledge.pdf" TargetMode="External"/><Relationship Id="rId2" Type="http://schemas.openxmlformats.org/officeDocument/2006/relationships/hyperlink" Target="https://www.scribd.com/presentation/581918008/Unit-1-Introduction-to-Data-Information-Knowledge" TargetMode="Externa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4A456-EEFB-91F4-8A0C-8AB7E6A30726}"/>
              </a:ext>
            </a:extLst>
          </p:cNvPr>
          <p:cNvSpPr>
            <a:spLocks noGrp="1"/>
          </p:cNvSpPr>
          <p:nvPr>
            <p:ph type="ctrTitle"/>
          </p:nvPr>
        </p:nvSpPr>
        <p:spPr/>
        <p:txBody>
          <a:bodyPr/>
          <a:lstStyle/>
          <a:p>
            <a:r>
              <a:rPr lang="en-PH" dirty="0"/>
              <a:t>Introduction to Information Management</a:t>
            </a:r>
          </a:p>
        </p:txBody>
      </p:sp>
      <p:sp>
        <p:nvSpPr>
          <p:cNvPr id="3" name="Subtitle 2">
            <a:extLst>
              <a:ext uri="{FF2B5EF4-FFF2-40B4-BE49-F238E27FC236}">
                <a16:creationId xmlns:a16="http://schemas.microsoft.com/office/drawing/2014/main" id="{7E67C7D5-D916-E916-B70B-658011484726}"/>
              </a:ext>
            </a:extLst>
          </p:cNvPr>
          <p:cNvSpPr>
            <a:spLocks noGrp="1"/>
          </p:cNvSpPr>
          <p:nvPr>
            <p:ph type="subTitle" idx="1"/>
          </p:nvPr>
        </p:nvSpPr>
        <p:spPr/>
        <p:txBody>
          <a:bodyPr/>
          <a:lstStyle/>
          <a:p>
            <a:r>
              <a:rPr lang="en-PH" dirty="0"/>
              <a:t>IT.412: Information Management</a:t>
            </a:r>
          </a:p>
        </p:txBody>
      </p:sp>
    </p:spTree>
    <p:extLst>
      <p:ext uri="{BB962C8B-B14F-4D97-AF65-F5344CB8AC3E}">
        <p14:creationId xmlns:p14="http://schemas.microsoft.com/office/powerpoint/2010/main" val="2970664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2FA47-337C-F0EF-3A7E-114696F356B0}"/>
              </a:ext>
            </a:extLst>
          </p:cNvPr>
          <p:cNvSpPr>
            <a:spLocks noGrp="1"/>
          </p:cNvSpPr>
          <p:nvPr>
            <p:ph type="title"/>
          </p:nvPr>
        </p:nvSpPr>
        <p:spPr/>
        <p:txBody>
          <a:bodyPr/>
          <a:lstStyle/>
          <a:p>
            <a:r>
              <a:rPr lang="en-PH" dirty="0"/>
              <a:t>What is Information?</a:t>
            </a:r>
          </a:p>
        </p:txBody>
      </p:sp>
      <p:pic>
        <p:nvPicPr>
          <p:cNvPr id="1026" name="Picture 2" descr="PDF] Revisiting Data , Information , Knowledge and Wisdom ( DIKW ) Model  and Introducing the Green Leaf Model | Semantic Scholar">
            <a:extLst>
              <a:ext uri="{FF2B5EF4-FFF2-40B4-BE49-F238E27FC236}">
                <a16:creationId xmlns:a16="http://schemas.microsoft.com/office/drawing/2014/main" id="{36E7008D-76B7-B5EE-8CB7-E011291AA4C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46123" y="1690688"/>
            <a:ext cx="8686800" cy="4095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52288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1CE33-B523-4913-E30E-B9F610CC02A2}"/>
              </a:ext>
            </a:extLst>
          </p:cNvPr>
          <p:cNvSpPr>
            <a:spLocks noGrp="1"/>
          </p:cNvSpPr>
          <p:nvPr>
            <p:ph type="title"/>
          </p:nvPr>
        </p:nvSpPr>
        <p:spPr/>
        <p:txBody>
          <a:bodyPr/>
          <a:lstStyle/>
          <a:p>
            <a:r>
              <a:rPr lang="en-PH" dirty="0"/>
              <a:t>Data vs Information</a:t>
            </a:r>
          </a:p>
        </p:txBody>
      </p:sp>
      <p:sp>
        <p:nvSpPr>
          <p:cNvPr id="3" name="Content Placeholder 2">
            <a:extLst>
              <a:ext uri="{FF2B5EF4-FFF2-40B4-BE49-F238E27FC236}">
                <a16:creationId xmlns:a16="http://schemas.microsoft.com/office/drawing/2014/main" id="{C28B1F61-E392-CB86-BEFD-252EB275A1CC}"/>
              </a:ext>
            </a:extLst>
          </p:cNvPr>
          <p:cNvSpPr>
            <a:spLocks noGrp="1"/>
          </p:cNvSpPr>
          <p:nvPr>
            <p:ph sz="half" idx="1"/>
          </p:nvPr>
        </p:nvSpPr>
        <p:spPr/>
        <p:txBody>
          <a:bodyPr/>
          <a:lstStyle/>
          <a:p>
            <a:pPr marL="0" indent="0">
              <a:buNone/>
            </a:pPr>
            <a:r>
              <a:rPr lang="en-PH" dirty="0"/>
              <a:t>Data</a:t>
            </a:r>
          </a:p>
          <a:p>
            <a:r>
              <a:rPr lang="en-PH" dirty="0"/>
              <a:t>Comprises of facts, observations, or perceptions</a:t>
            </a:r>
          </a:p>
          <a:p>
            <a:r>
              <a:rPr lang="en-PH" dirty="0"/>
              <a:t>Represents raw numbers, or assertions</a:t>
            </a:r>
          </a:p>
          <a:p>
            <a:r>
              <a:rPr lang="en-PH" dirty="0"/>
              <a:t>Raw facts</a:t>
            </a:r>
          </a:p>
          <a:p>
            <a:endParaRPr lang="en-PH" dirty="0"/>
          </a:p>
        </p:txBody>
      </p:sp>
      <p:sp>
        <p:nvSpPr>
          <p:cNvPr id="4" name="Content Placeholder 3">
            <a:extLst>
              <a:ext uri="{FF2B5EF4-FFF2-40B4-BE49-F238E27FC236}">
                <a16:creationId xmlns:a16="http://schemas.microsoft.com/office/drawing/2014/main" id="{1A9AE088-740E-7101-BF44-63AE41475F23}"/>
              </a:ext>
            </a:extLst>
          </p:cNvPr>
          <p:cNvSpPr>
            <a:spLocks noGrp="1"/>
          </p:cNvSpPr>
          <p:nvPr>
            <p:ph sz="half" idx="2"/>
          </p:nvPr>
        </p:nvSpPr>
        <p:spPr/>
        <p:txBody>
          <a:bodyPr/>
          <a:lstStyle/>
          <a:p>
            <a:pPr marL="0" indent="0">
              <a:buNone/>
            </a:pPr>
            <a:r>
              <a:rPr lang="en-PH" dirty="0"/>
              <a:t>Information</a:t>
            </a:r>
          </a:p>
          <a:p>
            <a:r>
              <a:rPr lang="en-PH" dirty="0"/>
              <a:t>Processed Data</a:t>
            </a:r>
          </a:p>
          <a:p>
            <a:r>
              <a:rPr lang="en-PH" dirty="0"/>
              <a:t>Data with context</a:t>
            </a:r>
          </a:p>
          <a:p>
            <a:r>
              <a:rPr lang="en-PH" dirty="0"/>
              <a:t>Value added to data</a:t>
            </a:r>
          </a:p>
          <a:p>
            <a:pPr lvl="1"/>
            <a:r>
              <a:rPr lang="en-PH" dirty="0"/>
              <a:t>Summarized</a:t>
            </a:r>
          </a:p>
          <a:p>
            <a:pPr lvl="1"/>
            <a:r>
              <a:rPr lang="en-PH" dirty="0"/>
              <a:t>Organized</a:t>
            </a:r>
          </a:p>
          <a:p>
            <a:pPr lvl="1"/>
            <a:r>
              <a:rPr lang="en-PH" dirty="0"/>
              <a:t>Analyzed</a:t>
            </a:r>
          </a:p>
        </p:txBody>
      </p:sp>
    </p:spTree>
    <p:extLst>
      <p:ext uri="{BB962C8B-B14F-4D97-AF65-F5344CB8AC3E}">
        <p14:creationId xmlns:p14="http://schemas.microsoft.com/office/powerpoint/2010/main" val="22567380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3B23301-DD43-DCD9-3843-D2A4068D3FEE}"/>
              </a:ext>
            </a:extLst>
          </p:cNvPr>
          <p:cNvSpPr>
            <a:spLocks noGrp="1"/>
          </p:cNvSpPr>
          <p:nvPr>
            <p:ph type="title"/>
          </p:nvPr>
        </p:nvSpPr>
        <p:spPr/>
        <p:txBody>
          <a:bodyPr/>
          <a:lstStyle/>
          <a:p>
            <a:r>
              <a:rPr lang="en-PH" dirty="0"/>
              <a:t>Data vs Information</a:t>
            </a:r>
          </a:p>
        </p:txBody>
      </p:sp>
      <p:pic>
        <p:nvPicPr>
          <p:cNvPr id="8" name="Content Placeholder 7">
            <a:extLst>
              <a:ext uri="{FF2B5EF4-FFF2-40B4-BE49-F238E27FC236}">
                <a16:creationId xmlns:a16="http://schemas.microsoft.com/office/drawing/2014/main" id="{E6754A61-40E6-7CEB-3F96-27E7C82B6EBD}"/>
              </a:ext>
            </a:extLst>
          </p:cNvPr>
          <p:cNvPicPr>
            <a:picLocks noGrp="1" noChangeAspect="1"/>
          </p:cNvPicPr>
          <p:nvPr>
            <p:ph idx="1"/>
          </p:nvPr>
        </p:nvPicPr>
        <p:blipFill>
          <a:blip r:embed="rId2"/>
          <a:stretch>
            <a:fillRect/>
          </a:stretch>
        </p:blipFill>
        <p:spPr>
          <a:xfrm>
            <a:off x="1408223" y="1828800"/>
            <a:ext cx="8302404" cy="4351338"/>
          </a:xfrm>
        </p:spPr>
      </p:pic>
    </p:spTree>
    <p:extLst>
      <p:ext uri="{BB962C8B-B14F-4D97-AF65-F5344CB8AC3E}">
        <p14:creationId xmlns:p14="http://schemas.microsoft.com/office/powerpoint/2010/main" val="2924420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451C8-70C9-4D15-C5A0-1CF57513FFAF}"/>
              </a:ext>
            </a:extLst>
          </p:cNvPr>
          <p:cNvSpPr>
            <a:spLocks noGrp="1"/>
          </p:cNvSpPr>
          <p:nvPr>
            <p:ph type="title"/>
          </p:nvPr>
        </p:nvSpPr>
        <p:spPr/>
        <p:txBody>
          <a:bodyPr/>
          <a:lstStyle/>
          <a:p>
            <a:r>
              <a:rPr lang="en-PH" dirty="0"/>
              <a:t>What is Knowledge</a:t>
            </a:r>
          </a:p>
        </p:txBody>
      </p:sp>
      <p:sp>
        <p:nvSpPr>
          <p:cNvPr id="3" name="Content Placeholder 2">
            <a:extLst>
              <a:ext uri="{FF2B5EF4-FFF2-40B4-BE49-F238E27FC236}">
                <a16:creationId xmlns:a16="http://schemas.microsoft.com/office/drawing/2014/main" id="{84E0B5DF-29B1-4A56-11D0-1BBD544C48F4}"/>
              </a:ext>
            </a:extLst>
          </p:cNvPr>
          <p:cNvSpPr>
            <a:spLocks noGrp="1"/>
          </p:cNvSpPr>
          <p:nvPr>
            <p:ph idx="1"/>
          </p:nvPr>
        </p:nvSpPr>
        <p:spPr/>
        <p:txBody>
          <a:bodyPr/>
          <a:lstStyle/>
          <a:p>
            <a:r>
              <a:rPr lang="en-PH" dirty="0"/>
              <a:t>A justified true belief</a:t>
            </a:r>
          </a:p>
          <a:p>
            <a:r>
              <a:rPr lang="en-PH" dirty="0"/>
              <a:t>Highest level of the hierarchy, on top of data and information</a:t>
            </a:r>
          </a:p>
          <a:p>
            <a:r>
              <a:rPr lang="en-PH" dirty="0"/>
              <a:t>It is the deepest, richest, &amp; most valuable of the three</a:t>
            </a:r>
          </a:p>
          <a:p>
            <a:r>
              <a:rPr lang="en-PH" dirty="0"/>
              <a:t>Information with direction</a:t>
            </a:r>
          </a:p>
        </p:txBody>
      </p:sp>
      <p:pic>
        <p:nvPicPr>
          <p:cNvPr id="3074" name="Picture 2" descr="Level Up: Skill-Building Strategies for Today's Independent Professionals -  MBO Partners">
            <a:extLst>
              <a:ext uri="{FF2B5EF4-FFF2-40B4-BE49-F238E27FC236}">
                <a16:creationId xmlns:a16="http://schemas.microsoft.com/office/drawing/2014/main" id="{2A68A204-A796-1EAA-4C6D-A37D40D85E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72338" y="3933151"/>
            <a:ext cx="3609574" cy="22469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95286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56BE5-D835-A4D0-4424-A420B10B933A}"/>
              </a:ext>
            </a:extLst>
          </p:cNvPr>
          <p:cNvSpPr>
            <a:spLocks noGrp="1"/>
          </p:cNvSpPr>
          <p:nvPr>
            <p:ph type="title"/>
          </p:nvPr>
        </p:nvSpPr>
        <p:spPr/>
        <p:txBody>
          <a:bodyPr/>
          <a:lstStyle/>
          <a:p>
            <a:endParaRPr lang="en-PH"/>
          </a:p>
        </p:txBody>
      </p:sp>
      <p:sp>
        <p:nvSpPr>
          <p:cNvPr id="3" name="Content Placeholder 2">
            <a:extLst>
              <a:ext uri="{FF2B5EF4-FFF2-40B4-BE49-F238E27FC236}">
                <a16:creationId xmlns:a16="http://schemas.microsoft.com/office/drawing/2014/main" id="{66F1ECFA-9A0E-EC00-8754-EF0AA48B2310}"/>
              </a:ext>
            </a:extLst>
          </p:cNvPr>
          <p:cNvSpPr>
            <a:spLocks noGrp="1"/>
          </p:cNvSpPr>
          <p:nvPr>
            <p:ph idx="1"/>
          </p:nvPr>
        </p:nvSpPr>
        <p:spPr/>
        <p:txBody>
          <a:bodyPr/>
          <a:lstStyle/>
          <a:p>
            <a:endParaRPr lang="en-PH"/>
          </a:p>
        </p:txBody>
      </p:sp>
      <p:pic>
        <p:nvPicPr>
          <p:cNvPr id="5" name="Picture 4">
            <a:extLst>
              <a:ext uri="{FF2B5EF4-FFF2-40B4-BE49-F238E27FC236}">
                <a16:creationId xmlns:a16="http://schemas.microsoft.com/office/drawing/2014/main" id="{6C2CACDB-6B3D-FE7C-E01A-8244F7DFB62D}"/>
              </a:ext>
            </a:extLst>
          </p:cNvPr>
          <p:cNvPicPr>
            <a:picLocks noChangeAspect="1"/>
          </p:cNvPicPr>
          <p:nvPr/>
        </p:nvPicPr>
        <p:blipFill>
          <a:blip r:embed="rId2"/>
          <a:stretch>
            <a:fillRect/>
          </a:stretch>
        </p:blipFill>
        <p:spPr>
          <a:xfrm>
            <a:off x="971433" y="0"/>
            <a:ext cx="9176237" cy="6857737"/>
          </a:xfrm>
          <a:prstGeom prst="rect">
            <a:avLst/>
          </a:prstGeom>
        </p:spPr>
      </p:pic>
    </p:spTree>
    <p:extLst>
      <p:ext uri="{BB962C8B-B14F-4D97-AF65-F5344CB8AC3E}">
        <p14:creationId xmlns:p14="http://schemas.microsoft.com/office/powerpoint/2010/main" val="7852522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465CE-1D76-06BE-A98F-C6662A04A4E6}"/>
              </a:ext>
            </a:extLst>
          </p:cNvPr>
          <p:cNvSpPr>
            <a:spLocks noGrp="1"/>
          </p:cNvSpPr>
          <p:nvPr>
            <p:ph type="title"/>
          </p:nvPr>
        </p:nvSpPr>
        <p:spPr/>
        <p:txBody>
          <a:bodyPr/>
          <a:lstStyle/>
          <a:p>
            <a:endParaRPr lang="en-PH"/>
          </a:p>
        </p:txBody>
      </p:sp>
      <p:sp>
        <p:nvSpPr>
          <p:cNvPr id="3" name="Content Placeholder 2">
            <a:extLst>
              <a:ext uri="{FF2B5EF4-FFF2-40B4-BE49-F238E27FC236}">
                <a16:creationId xmlns:a16="http://schemas.microsoft.com/office/drawing/2014/main" id="{E4E612F0-0C65-FFA6-3EEF-3CED06AD0151}"/>
              </a:ext>
            </a:extLst>
          </p:cNvPr>
          <p:cNvSpPr>
            <a:spLocks noGrp="1"/>
          </p:cNvSpPr>
          <p:nvPr>
            <p:ph idx="1"/>
          </p:nvPr>
        </p:nvSpPr>
        <p:spPr/>
        <p:txBody>
          <a:bodyPr/>
          <a:lstStyle/>
          <a:p>
            <a:endParaRPr lang="en-PH"/>
          </a:p>
        </p:txBody>
      </p:sp>
      <p:pic>
        <p:nvPicPr>
          <p:cNvPr id="5" name="Picture 4">
            <a:extLst>
              <a:ext uri="{FF2B5EF4-FFF2-40B4-BE49-F238E27FC236}">
                <a16:creationId xmlns:a16="http://schemas.microsoft.com/office/drawing/2014/main" id="{420178AA-DB8E-30B0-8629-8053B1F30D46}"/>
              </a:ext>
            </a:extLst>
          </p:cNvPr>
          <p:cNvPicPr>
            <a:picLocks noChangeAspect="1"/>
          </p:cNvPicPr>
          <p:nvPr/>
        </p:nvPicPr>
        <p:blipFill>
          <a:blip r:embed="rId2"/>
          <a:stretch>
            <a:fillRect/>
          </a:stretch>
        </p:blipFill>
        <p:spPr>
          <a:xfrm>
            <a:off x="951293" y="0"/>
            <a:ext cx="9234926" cy="6866636"/>
          </a:xfrm>
          <a:prstGeom prst="rect">
            <a:avLst/>
          </a:prstGeom>
        </p:spPr>
      </p:pic>
    </p:spTree>
    <p:extLst>
      <p:ext uri="{BB962C8B-B14F-4D97-AF65-F5344CB8AC3E}">
        <p14:creationId xmlns:p14="http://schemas.microsoft.com/office/powerpoint/2010/main" val="2000721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AD954-B776-E7FD-D0CA-8D63E38F32C7}"/>
              </a:ext>
            </a:extLst>
          </p:cNvPr>
          <p:cNvSpPr>
            <a:spLocks noGrp="1"/>
          </p:cNvSpPr>
          <p:nvPr>
            <p:ph type="title"/>
          </p:nvPr>
        </p:nvSpPr>
        <p:spPr/>
        <p:txBody>
          <a:bodyPr/>
          <a:lstStyle/>
          <a:p>
            <a:endParaRPr lang="en-PH"/>
          </a:p>
        </p:txBody>
      </p:sp>
      <p:sp>
        <p:nvSpPr>
          <p:cNvPr id="3" name="Content Placeholder 2">
            <a:extLst>
              <a:ext uri="{FF2B5EF4-FFF2-40B4-BE49-F238E27FC236}">
                <a16:creationId xmlns:a16="http://schemas.microsoft.com/office/drawing/2014/main" id="{BA8D3EBB-8A82-6700-E24B-5F0777705749}"/>
              </a:ext>
            </a:extLst>
          </p:cNvPr>
          <p:cNvSpPr>
            <a:spLocks noGrp="1"/>
          </p:cNvSpPr>
          <p:nvPr>
            <p:ph idx="1"/>
          </p:nvPr>
        </p:nvSpPr>
        <p:spPr/>
        <p:txBody>
          <a:bodyPr/>
          <a:lstStyle/>
          <a:p>
            <a:endParaRPr lang="en-PH"/>
          </a:p>
        </p:txBody>
      </p:sp>
      <p:pic>
        <p:nvPicPr>
          <p:cNvPr id="5" name="Picture 4">
            <a:extLst>
              <a:ext uri="{FF2B5EF4-FFF2-40B4-BE49-F238E27FC236}">
                <a16:creationId xmlns:a16="http://schemas.microsoft.com/office/drawing/2014/main" id="{A14D5FF7-6B18-CA6C-309E-1FB58564BBF6}"/>
              </a:ext>
            </a:extLst>
          </p:cNvPr>
          <p:cNvPicPr>
            <a:picLocks noChangeAspect="1"/>
          </p:cNvPicPr>
          <p:nvPr/>
        </p:nvPicPr>
        <p:blipFill>
          <a:blip r:embed="rId2"/>
          <a:stretch>
            <a:fillRect/>
          </a:stretch>
        </p:blipFill>
        <p:spPr>
          <a:xfrm>
            <a:off x="978560" y="0"/>
            <a:ext cx="9148666" cy="6877107"/>
          </a:xfrm>
          <a:prstGeom prst="rect">
            <a:avLst/>
          </a:prstGeom>
        </p:spPr>
      </p:pic>
    </p:spTree>
    <p:extLst>
      <p:ext uri="{BB962C8B-B14F-4D97-AF65-F5344CB8AC3E}">
        <p14:creationId xmlns:p14="http://schemas.microsoft.com/office/powerpoint/2010/main" val="8713368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1F76E-17B3-9404-DC81-0D9041501A80}"/>
              </a:ext>
            </a:extLst>
          </p:cNvPr>
          <p:cNvSpPr>
            <a:spLocks noGrp="1"/>
          </p:cNvSpPr>
          <p:nvPr>
            <p:ph type="title"/>
          </p:nvPr>
        </p:nvSpPr>
        <p:spPr/>
        <p:txBody>
          <a:bodyPr/>
          <a:lstStyle/>
          <a:p>
            <a:r>
              <a:rPr lang="en-PH" dirty="0"/>
              <a:t>Data, Information, and Knowledge</a:t>
            </a:r>
          </a:p>
        </p:txBody>
      </p:sp>
      <p:pic>
        <p:nvPicPr>
          <p:cNvPr id="4098" name="Picture 2" descr="Data Vs. Information Vs. Knowledge">
            <a:extLst>
              <a:ext uri="{FF2B5EF4-FFF2-40B4-BE49-F238E27FC236}">
                <a16:creationId xmlns:a16="http://schemas.microsoft.com/office/drawing/2014/main" id="{58243D90-5262-6BC6-A57B-02883CD371E3}"/>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182761" y="1770916"/>
            <a:ext cx="6784258" cy="48246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35022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2EF6378-F767-A39F-5CB6-1ED9D9DF4782}"/>
              </a:ext>
            </a:extLst>
          </p:cNvPr>
          <p:cNvSpPr>
            <a:spLocks noGrp="1"/>
          </p:cNvSpPr>
          <p:nvPr>
            <p:ph type="title"/>
          </p:nvPr>
        </p:nvSpPr>
        <p:spPr/>
        <p:txBody>
          <a:bodyPr/>
          <a:lstStyle/>
          <a:p>
            <a:r>
              <a:rPr lang="en-PH" dirty="0"/>
              <a:t>What is Information Management?</a:t>
            </a:r>
          </a:p>
        </p:txBody>
      </p:sp>
      <p:sp>
        <p:nvSpPr>
          <p:cNvPr id="5" name="Text Placeholder 4">
            <a:extLst>
              <a:ext uri="{FF2B5EF4-FFF2-40B4-BE49-F238E27FC236}">
                <a16:creationId xmlns:a16="http://schemas.microsoft.com/office/drawing/2014/main" id="{F32F5BD1-B293-917A-DD07-4F45870C1CF7}"/>
              </a:ext>
            </a:extLst>
          </p:cNvPr>
          <p:cNvSpPr>
            <a:spLocks noGrp="1"/>
          </p:cNvSpPr>
          <p:nvPr>
            <p:ph type="body" idx="1"/>
          </p:nvPr>
        </p:nvSpPr>
        <p:spPr/>
        <p:txBody>
          <a:bodyPr/>
          <a:lstStyle/>
          <a:p>
            <a:endParaRPr lang="en-PH"/>
          </a:p>
        </p:txBody>
      </p:sp>
    </p:spTree>
    <p:extLst>
      <p:ext uri="{BB962C8B-B14F-4D97-AF65-F5344CB8AC3E}">
        <p14:creationId xmlns:p14="http://schemas.microsoft.com/office/powerpoint/2010/main" val="26593558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25D7699-54B1-0A70-1A47-2619CA8CBD1F}"/>
              </a:ext>
            </a:extLst>
          </p:cNvPr>
          <p:cNvSpPr>
            <a:spLocks noGrp="1"/>
          </p:cNvSpPr>
          <p:nvPr>
            <p:ph type="title"/>
          </p:nvPr>
        </p:nvSpPr>
        <p:spPr/>
        <p:txBody>
          <a:bodyPr/>
          <a:lstStyle/>
          <a:p>
            <a:r>
              <a:rPr lang="en-PH" dirty="0"/>
              <a:t>Information Management</a:t>
            </a:r>
          </a:p>
        </p:txBody>
      </p:sp>
      <p:sp>
        <p:nvSpPr>
          <p:cNvPr id="5" name="Content Placeholder 4">
            <a:extLst>
              <a:ext uri="{FF2B5EF4-FFF2-40B4-BE49-F238E27FC236}">
                <a16:creationId xmlns:a16="http://schemas.microsoft.com/office/drawing/2014/main" id="{7AAC7335-EA8C-0753-947B-31BA6CC939AC}"/>
              </a:ext>
            </a:extLst>
          </p:cNvPr>
          <p:cNvSpPr>
            <a:spLocks noGrp="1"/>
          </p:cNvSpPr>
          <p:nvPr>
            <p:ph idx="1"/>
          </p:nvPr>
        </p:nvSpPr>
        <p:spPr/>
        <p:txBody>
          <a:bodyPr/>
          <a:lstStyle/>
          <a:p>
            <a:r>
              <a:rPr lang="en-PH" dirty="0"/>
              <a:t>Laypeople – </a:t>
            </a:r>
            <a:r>
              <a:rPr lang="en-US" dirty="0"/>
              <a:t>Views it as a general flow of daily info</a:t>
            </a:r>
          </a:p>
          <a:p>
            <a:r>
              <a:rPr lang="en-PH" dirty="0"/>
              <a:t>Working people – </a:t>
            </a:r>
            <a:r>
              <a:rPr lang="en-US" dirty="0"/>
              <a:t>Focuses on acquiring, processing, and using information for work</a:t>
            </a:r>
          </a:p>
          <a:p>
            <a:r>
              <a:rPr lang="en-US" dirty="0"/>
              <a:t>IT Specialist – Concerned with data storage, database management, and system delivery</a:t>
            </a:r>
          </a:p>
          <a:p>
            <a:endParaRPr lang="en-US" dirty="0"/>
          </a:p>
          <a:p>
            <a:r>
              <a:rPr lang="en-US" dirty="0"/>
              <a:t>The set of activities and discipline required to </a:t>
            </a:r>
            <a:r>
              <a:rPr lang="en-US" b="1" dirty="0"/>
              <a:t>manage information as a critical business resource</a:t>
            </a:r>
            <a:r>
              <a:rPr lang="en-US" dirty="0"/>
              <a:t>, bridging the gap between Information Technology (IT) and strategic business benefits.</a:t>
            </a:r>
            <a:endParaRPr lang="en-PH" dirty="0"/>
          </a:p>
        </p:txBody>
      </p:sp>
    </p:spTree>
    <p:extLst>
      <p:ext uri="{BB962C8B-B14F-4D97-AF65-F5344CB8AC3E}">
        <p14:creationId xmlns:p14="http://schemas.microsoft.com/office/powerpoint/2010/main" val="42207466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7E69B-059C-6F53-2096-C8496F26E2CE}"/>
              </a:ext>
            </a:extLst>
          </p:cNvPr>
          <p:cNvSpPr>
            <a:spLocks noGrp="1"/>
          </p:cNvSpPr>
          <p:nvPr>
            <p:ph type="title"/>
          </p:nvPr>
        </p:nvSpPr>
        <p:spPr/>
        <p:txBody>
          <a:bodyPr/>
          <a:lstStyle/>
          <a:p>
            <a:r>
              <a:rPr lang="en-PH" dirty="0"/>
              <a:t>Information Management</a:t>
            </a:r>
          </a:p>
        </p:txBody>
      </p:sp>
      <p:sp>
        <p:nvSpPr>
          <p:cNvPr id="3" name="Content Placeholder 2">
            <a:extLst>
              <a:ext uri="{FF2B5EF4-FFF2-40B4-BE49-F238E27FC236}">
                <a16:creationId xmlns:a16="http://schemas.microsoft.com/office/drawing/2014/main" id="{01C7444D-DA60-CD2A-F51C-3D85BFE18188}"/>
              </a:ext>
            </a:extLst>
          </p:cNvPr>
          <p:cNvSpPr>
            <a:spLocks noGrp="1"/>
          </p:cNvSpPr>
          <p:nvPr>
            <p:ph idx="1"/>
          </p:nvPr>
        </p:nvSpPr>
        <p:spPr/>
        <p:txBody>
          <a:bodyPr/>
          <a:lstStyle/>
          <a:p>
            <a:r>
              <a:rPr lang="en-US" dirty="0"/>
              <a:t>For everyone, the flow of information through their lives has become critical to their twenty-first century existence.</a:t>
            </a:r>
          </a:p>
          <a:p>
            <a:r>
              <a:rPr lang="en-US" dirty="0"/>
              <a:t>The term “information management” is increasingly common in non-technical fields like government and engineering.</a:t>
            </a:r>
            <a:endParaRPr lang="en-PH" dirty="0"/>
          </a:p>
        </p:txBody>
      </p:sp>
    </p:spTree>
    <p:extLst>
      <p:ext uri="{BB962C8B-B14F-4D97-AF65-F5344CB8AC3E}">
        <p14:creationId xmlns:p14="http://schemas.microsoft.com/office/powerpoint/2010/main" val="8645799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53A06-9D5D-F33F-F3AC-BDE0C5AAF3C8}"/>
              </a:ext>
            </a:extLst>
          </p:cNvPr>
          <p:cNvSpPr>
            <a:spLocks noGrp="1"/>
          </p:cNvSpPr>
          <p:nvPr>
            <p:ph type="title"/>
          </p:nvPr>
        </p:nvSpPr>
        <p:spPr/>
        <p:txBody>
          <a:bodyPr/>
          <a:lstStyle/>
          <a:p>
            <a:r>
              <a:rPr lang="en-PH" dirty="0"/>
              <a:t>Evolution of Information Management</a:t>
            </a:r>
          </a:p>
        </p:txBody>
      </p:sp>
      <p:sp>
        <p:nvSpPr>
          <p:cNvPr id="3" name="Content Placeholder 2">
            <a:extLst>
              <a:ext uri="{FF2B5EF4-FFF2-40B4-BE49-F238E27FC236}">
                <a16:creationId xmlns:a16="http://schemas.microsoft.com/office/drawing/2014/main" id="{17A3FD83-A47D-FF1B-CF07-EDC53E87ECA8}"/>
              </a:ext>
            </a:extLst>
          </p:cNvPr>
          <p:cNvSpPr>
            <a:spLocks noGrp="1"/>
          </p:cNvSpPr>
          <p:nvPr>
            <p:ph idx="1"/>
          </p:nvPr>
        </p:nvSpPr>
        <p:spPr/>
        <p:txBody>
          <a:bodyPr/>
          <a:lstStyle/>
          <a:p>
            <a:r>
              <a:rPr lang="en-US" b="1" dirty="0"/>
              <a:t>The Early Days (1960s):</a:t>
            </a:r>
            <a:r>
              <a:rPr lang="en-US" dirty="0"/>
              <a:t> Focus on automating labor-intensive office tasks like accounting and invoicing.</a:t>
            </a:r>
          </a:p>
          <a:p>
            <a:r>
              <a:rPr lang="en-US" b="1" dirty="0"/>
              <a:t>The Maturing Years (1980s–90s):</a:t>
            </a:r>
            <a:r>
              <a:rPr lang="en-US" dirty="0"/>
              <a:t> Commercial organizations seeking strategic advantage and managing the rapidly shrinking "window" of that advantage.</a:t>
            </a:r>
          </a:p>
          <a:p>
            <a:r>
              <a:rPr lang="en-US" b="1" dirty="0"/>
              <a:t>Modern Day:</a:t>
            </a:r>
            <a:r>
              <a:rPr lang="en-US" dirty="0"/>
              <a:t> Technology is now truly ubiquitous, and national boundaries are dissolving as individual power increases.</a:t>
            </a:r>
            <a:endParaRPr lang="en-PH" dirty="0"/>
          </a:p>
        </p:txBody>
      </p:sp>
    </p:spTree>
    <p:extLst>
      <p:ext uri="{BB962C8B-B14F-4D97-AF65-F5344CB8AC3E}">
        <p14:creationId xmlns:p14="http://schemas.microsoft.com/office/powerpoint/2010/main" val="11445005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92DE3-90C4-9EFD-FC6C-6FC8C767FF8C}"/>
              </a:ext>
            </a:extLst>
          </p:cNvPr>
          <p:cNvSpPr>
            <a:spLocks noGrp="1"/>
          </p:cNvSpPr>
          <p:nvPr>
            <p:ph type="title"/>
          </p:nvPr>
        </p:nvSpPr>
        <p:spPr/>
        <p:txBody>
          <a:bodyPr/>
          <a:lstStyle/>
          <a:p>
            <a:r>
              <a:rPr lang="en-PH" dirty="0"/>
              <a:t>Evolution of Information Management</a:t>
            </a:r>
          </a:p>
        </p:txBody>
      </p:sp>
      <p:sp>
        <p:nvSpPr>
          <p:cNvPr id="3" name="Content Placeholder 2">
            <a:extLst>
              <a:ext uri="{FF2B5EF4-FFF2-40B4-BE49-F238E27FC236}">
                <a16:creationId xmlns:a16="http://schemas.microsoft.com/office/drawing/2014/main" id="{E7C270E8-BC3F-D6F1-ABD6-362A6AC7119F}"/>
              </a:ext>
            </a:extLst>
          </p:cNvPr>
          <p:cNvSpPr>
            <a:spLocks noGrp="1"/>
          </p:cNvSpPr>
          <p:nvPr>
            <p:ph idx="1"/>
          </p:nvPr>
        </p:nvSpPr>
        <p:spPr/>
        <p:txBody>
          <a:bodyPr/>
          <a:lstStyle/>
          <a:p>
            <a:r>
              <a:rPr lang="en-US" dirty="0"/>
              <a:t>The vast majority of the issues in the </a:t>
            </a:r>
            <a:r>
              <a:rPr lang="en-US" b="1" dirty="0"/>
              <a:t>early years </a:t>
            </a:r>
            <a:r>
              <a:rPr lang="en-US" dirty="0"/>
              <a:t>were those associated with how to </a:t>
            </a:r>
            <a:r>
              <a:rPr lang="en-US" b="1" dirty="0"/>
              <a:t>supply</a:t>
            </a:r>
            <a:r>
              <a:rPr lang="en-US" dirty="0"/>
              <a:t> information systems to business.</a:t>
            </a:r>
          </a:p>
          <a:p>
            <a:r>
              <a:rPr lang="en-US" dirty="0"/>
              <a:t>Information technology was a </a:t>
            </a:r>
            <a:r>
              <a:rPr lang="en-US" b="1" dirty="0"/>
              <a:t>driver of cost rather than a source of new thinking</a:t>
            </a:r>
            <a:r>
              <a:rPr lang="en-US" dirty="0"/>
              <a:t> and innovation. </a:t>
            </a:r>
          </a:p>
          <a:p>
            <a:r>
              <a:rPr lang="en-US" dirty="0"/>
              <a:t>The principal problem was finding people who could do the work rather than making sure that the work was what was needed.</a:t>
            </a:r>
            <a:endParaRPr lang="en-PH" dirty="0"/>
          </a:p>
        </p:txBody>
      </p:sp>
    </p:spTree>
    <p:extLst>
      <p:ext uri="{BB962C8B-B14F-4D97-AF65-F5344CB8AC3E}">
        <p14:creationId xmlns:p14="http://schemas.microsoft.com/office/powerpoint/2010/main" val="20945791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964E8-F808-1674-CDCA-DB7841685694}"/>
              </a:ext>
            </a:extLst>
          </p:cNvPr>
          <p:cNvSpPr>
            <a:spLocks noGrp="1"/>
          </p:cNvSpPr>
          <p:nvPr>
            <p:ph type="title"/>
          </p:nvPr>
        </p:nvSpPr>
        <p:spPr/>
        <p:txBody>
          <a:bodyPr/>
          <a:lstStyle/>
          <a:p>
            <a:r>
              <a:rPr lang="en-PH" dirty="0"/>
              <a:t>Evolution of Information Management</a:t>
            </a:r>
          </a:p>
        </p:txBody>
      </p:sp>
      <p:sp>
        <p:nvSpPr>
          <p:cNvPr id="3" name="Content Placeholder 2">
            <a:extLst>
              <a:ext uri="{FF2B5EF4-FFF2-40B4-BE49-F238E27FC236}">
                <a16:creationId xmlns:a16="http://schemas.microsoft.com/office/drawing/2014/main" id="{3AE87E8A-0132-A293-8DB3-E02056EF70D8}"/>
              </a:ext>
            </a:extLst>
          </p:cNvPr>
          <p:cNvSpPr>
            <a:spLocks noGrp="1"/>
          </p:cNvSpPr>
          <p:nvPr>
            <p:ph idx="1"/>
          </p:nvPr>
        </p:nvSpPr>
        <p:spPr/>
        <p:txBody>
          <a:bodyPr/>
          <a:lstStyle/>
          <a:p>
            <a:r>
              <a:rPr lang="en-US" dirty="0"/>
              <a:t>This shift of attention in the </a:t>
            </a:r>
            <a:r>
              <a:rPr lang="en-US" b="1" dirty="0"/>
              <a:t>modern day</a:t>
            </a:r>
            <a:r>
              <a:rPr lang="en-US" dirty="0"/>
              <a:t> has highlighted issues relating to managing the </a:t>
            </a:r>
            <a:r>
              <a:rPr lang="en-US" b="1" dirty="0"/>
              <a:t>demand</a:t>
            </a:r>
            <a:r>
              <a:rPr lang="en-US" dirty="0"/>
              <a:t> for information systems in organizations.</a:t>
            </a:r>
          </a:p>
          <a:p>
            <a:r>
              <a:rPr lang="en-US" dirty="0"/>
              <a:t>Organizations are now searching for new business opportunities that might change the nature of the business and what kind of business it is.</a:t>
            </a:r>
          </a:p>
          <a:p>
            <a:r>
              <a:rPr lang="en-US" dirty="0"/>
              <a:t>As a result, it highlighted the growing disconnect between IT and business professionals. Slowly, the status of the IT department in organizations diminished. </a:t>
            </a:r>
          </a:p>
          <a:p>
            <a:endParaRPr lang="en-PH" dirty="0"/>
          </a:p>
        </p:txBody>
      </p:sp>
    </p:spTree>
    <p:extLst>
      <p:ext uri="{BB962C8B-B14F-4D97-AF65-F5344CB8AC3E}">
        <p14:creationId xmlns:p14="http://schemas.microsoft.com/office/powerpoint/2010/main" val="21028536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E2BE0-32A7-8171-2C03-A946ADA9E4CF}"/>
              </a:ext>
            </a:extLst>
          </p:cNvPr>
          <p:cNvSpPr>
            <a:spLocks noGrp="1"/>
          </p:cNvSpPr>
          <p:nvPr>
            <p:ph type="title"/>
          </p:nvPr>
        </p:nvSpPr>
        <p:spPr/>
        <p:txBody>
          <a:bodyPr/>
          <a:lstStyle/>
          <a:p>
            <a:r>
              <a:rPr lang="en-PH" dirty="0"/>
              <a:t>A Case Study</a:t>
            </a:r>
          </a:p>
        </p:txBody>
      </p:sp>
      <p:pic>
        <p:nvPicPr>
          <p:cNvPr id="6" name="Content Placeholder 5">
            <a:extLst>
              <a:ext uri="{FF2B5EF4-FFF2-40B4-BE49-F238E27FC236}">
                <a16:creationId xmlns:a16="http://schemas.microsoft.com/office/drawing/2014/main" id="{CD04E04B-08B1-9EA7-E062-ECE00E2BC601}"/>
              </a:ext>
            </a:extLst>
          </p:cNvPr>
          <p:cNvPicPr>
            <a:picLocks noGrp="1" noChangeAspect="1"/>
          </p:cNvPicPr>
          <p:nvPr>
            <p:ph idx="1"/>
          </p:nvPr>
        </p:nvPicPr>
        <p:blipFill>
          <a:blip r:embed="rId3"/>
          <a:stretch>
            <a:fillRect/>
          </a:stretch>
        </p:blipFill>
        <p:spPr>
          <a:xfrm>
            <a:off x="1284475" y="1691322"/>
            <a:ext cx="9186880" cy="4837909"/>
          </a:xfrm>
        </p:spPr>
      </p:pic>
    </p:spTree>
    <p:extLst>
      <p:ext uri="{BB962C8B-B14F-4D97-AF65-F5344CB8AC3E}">
        <p14:creationId xmlns:p14="http://schemas.microsoft.com/office/powerpoint/2010/main" val="30617015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7A09C-1204-2025-D27E-1C77F1B919FB}"/>
              </a:ext>
            </a:extLst>
          </p:cNvPr>
          <p:cNvSpPr>
            <a:spLocks noGrp="1"/>
          </p:cNvSpPr>
          <p:nvPr>
            <p:ph type="title"/>
          </p:nvPr>
        </p:nvSpPr>
        <p:spPr/>
        <p:txBody>
          <a:bodyPr/>
          <a:lstStyle/>
          <a:p>
            <a:r>
              <a:rPr lang="en-PH" dirty="0"/>
              <a:t>There shouldn’t be a “chasm”</a:t>
            </a:r>
          </a:p>
        </p:txBody>
      </p:sp>
      <p:pic>
        <p:nvPicPr>
          <p:cNvPr id="7" name="Content Placeholder 3">
            <a:extLst>
              <a:ext uri="{FF2B5EF4-FFF2-40B4-BE49-F238E27FC236}">
                <a16:creationId xmlns:a16="http://schemas.microsoft.com/office/drawing/2014/main" id="{C44F113E-CD80-4B02-4750-DF12FDF92792}"/>
              </a:ext>
            </a:extLst>
          </p:cNvPr>
          <p:cNvPicPr>
            <a:picLocks noGrp="1" noChangeAspect="1"/>
          </p:cNvPicPr>
          <p:nvPr>
            <p:ph idx="1"/>
          </p:nvPr>
        </p:nvPicPr>
        <p:blipFill>
          <a:blip r:embed="rId3"/>
          <a:stretch>
            <a:fillRect/>
          </a:stretch>
        </p:blipFill>
        <p:spPr>
          <a:xfrm>
            <a:off x="2676599" y="1651421"/>
            <a:ext cx="5765652" cy="4706096"/>
          </a:xfrm>
          <a:prstGeom prst="rect">
            <a:avLst/>
          </a:prstGeom>
        </p:spPr>
      </p:pic>
    </p:spTree>
    <p:extLst>
      <p:ext uri="{BB962C8B-B14F-4D97-AF65-F5344CB8AC3E}">
        <p14:creationId xmlns:p14="http://schemas.microsoft.com/office/powerpoint/2010/main" val="30345326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F76BD-D10D-A8FF-5313-B069D514BC29}"/>
              </a:ext>
            </a:extLst>
          </p:cNvPr>
          <p:cNvSpPr>
            <a:spLocks noGrp="1"/>
          </p:cNvSpPr>
          <p:nvPr>
            <p:ph type="title"/>
          </p:nvPr>
        </p:nvSpPr>
        <p:spPr/>
        <p:txBody>
          <a:bodyPr/>
          <a:lstStyle/>
          <a:p>
            <a:r>
              <a:rPr lang="en-PH" dirty="0"/>
              <a:t>The New Goal of IT Professionals</a:t>
            </a:r>
          </a:p>
        </p:txBody>
      </p:sp>
      <p:sp>
        <p:nvSpPr>
          <p:cNvPr id="3" name="Content Placeholder 2">
            <a:extLst>
              <a:ext uri="{FF2B5EF4-FFF2-40B4-BE49-F238E27FC236}">
                <a16:creationId xmlns:a16="http://schemas.microsoft.com/office/drawing/2014/main" id="{FAF2095E-8151-51EB-4234-DEDC231AC511}"/>
              </a:ext>
            </a:extLst>
          </p:cNvPr>
          <p:cNvSpPr>
            <a:spLocks noGrp="1"/>
          </p:cNvSpPr>
          <p:nvPr>
            <p:ph idx="1"/>
          </p:nvPr>
        </p:nvSpPr>
        <p:spPr/>
        <p:txBody>
          <a:bodyPr>
            <a:normAutofit/>
          </a:bodyPr>
          <a:lstStyle/>
          <a:p>
            <a:r>
              <a:rPr lang="en-US" dirty="0"/>
              <a:t>IT professionals are now expected to get closer to the business and to help build information management skills within the business that will </a:t>
            </a:r>
            <a:r>
              <a:rPr lang="en-US" b="1" dirty="0"/>
              <a:t>bring a focus on the business benefits</a:t>
            </a:r>
            <a:r>
              <a:rPr lang="en-US" dirty="0"/>
              <a:t> rather than the technical problems. </a:t>
            </a:r>
          </a:p>
          <a:p>
            <a:r>
              <a:rPr lang="en-US" dirty="0"/>
              <a:t>IT management needs to </a:t>
            </a:r>
            <a:r>
              <a:rPr lang="en-US" b="1" dirty="0"/>
              <a:t>promote a better understanding of the benefits of information technology and systems investments</a:t>
            </a:r>
            <a:r>
              <a:rPr lang="en-US" dirty="0"/>
              <a:t>: </a:t>
            </a:r>
          </a:p>
          <a:p>
            <a:pPr lvl="1"/>
            <a:r>
              <a:rPr lang="en-US" dirty="0"/>
              <a:t>how they can be defined</a:t>
            </a:r>
          </a:p>
          <a:p>
            <a:pPr lvl="1"/>
            <a:r>
              <a:rPr lang="en-US" dirty="0"/>
              <a:t>how they can be managed</a:t>
            </a:r>
          </a:p>
          <a:p>
            <a:pPr lvl="1"/>
            <a:r>
              <a:rPr lang="en-US" dirty="0"/>
              <a:t>how they can be measured </a:t>
            </a:r>
          </a:p>
          <a:p>
            <a:pPr lvl="1"/>
            <a:r>
              <a:rPr lang="en-US" dirty="0"/>
              <a:t>how they can be demonstrated in a way that senior business management understands.</a:t>
            </a:r>
            <a:endParaRPr lang="en-PH" dirty="0"/>
          </a:p>
        </p:txBody>
      </p:sp>
    </p:spTree>
    <p:extLst>
      <p:ext uri="{BB962C8B-B14F-4D97-AF65-F5344CB8AC3E}">
        <p14:creationId xmlns:p14="http://schemas.microsoft.com/office/powerpoint/2010/main" val="42006658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23A7D-0E81-8D1A-FDD0-47F640C425B3}"/>
              </a:ext>
            </a:extLst>
          </p:cNvPr>
          <p:cNvSpPr>
            <a:spLocks noGrp="1"/>
          </p:cNvSpPr>
          <p:nvPr>
            <p:ph type="title"/>
          </p:nvPr>
        </p:nvSpPr>
        <p:spPr/>
        <p:txBody>
          <a:bodyPr/>
          <a:lstStyle/>
          <a:p>
            <a:r>
              <a:rPr lang="en-PH" dirty="0"/>
              <a:t>Management 101</a:t>
            </a:r>
          </a:p>
        </p:txBody>
      </p:sp>
      <p:sp>
        <p:nvSpPr>
          <p:cNvPr id="3" name="Content Placeholder 2">
            <a:extLst>
              <a:ext uri="{FF2B5EF4-FFF2-40B4-BE49-F238E27FC236}">
                <a16:creationId xmlns:a16="http://schemas.microsoft.com/office/drawing/2014/main" id="{00C72879-6A36-96D6-678D-79164682D5D7}"/>
              </a:ext>
            </a:extLst>
          </p:cNvPr>
          <p:cNvSpPr>
            <a:spLocks noGrp="1"/>
          </p:cNvSpPr>
          <p:nvPr>
            <p:ph idx="1"/>
          </p:nvPr>
        </p:nvSpPr>
        <p:spPr/>
        <p:txBody>
          <a:bodyPr/>
          <a:lstStyle/>
          <a:p>
            <a:r>
              <a:rPr lang="en-US" dirty="0"/>
              <a:t>A common view of management, often taught in early classes dealing with management theory, is that it comprises </a:t>
            </a:r>
            <a:r>
              <a:rPr lang="en-US" b="1" dirty="0"/>
              <a:t>four principal activities: Think, Plan, Act </a:t>
            </a:r>
            <a:r>
              <a:rPr lang="en-US" dirty="0"/>
              <a:t>and</a:t>
            </a:r>
            <a:r>
              <a:rPr lang="en-US" b="1" dirty="0"/>
              <a:t> Check</a:t>
            </a:r>
            <a:r>
              <a:rPr lang="en-US" dirty="0"/>
              <a:t>.</a:t>
            </a:r>
          </a:p>
          <a:p>
            <a:endParaRPr lang="en-US" dirty="0"/>
          </a:p>
          <a:p>
            <a:endParaRPr lang="en-PH" dirty="0"/>
          </a:p>
        </p:txBody>
      </p:sp>
      <p:pic>
        <p:nvPicPr>
          <p:cNvPr id="7" name="Content Placeholder 4">
            <a:extLst>
              <a:ext uri="{FF2B5EF4-FFF2-40B4-BE49-F238E27FC236}">
                <a16:creationId xmlns:a16="http://schemas.microsoft.com/office/drawing/2014/main" id="{D70E2D5C-F100-37DD-C633-2C05B772D1C5}"/>
              </a:ext>
            </a:extLst>
          </p:cNvPr>
          <p:cNvPicPr>
            <a:picLocks noChangeAspect="1"/>
          </p:cNvPicPr>
          <p:nvPr/>
        </p:nvPicPr>
        <p:blipFill>
          <a:blip r:embed="rId3"/>
          <a:stretch>
            <a:fillRect/>
          </a:stretch>
        </p:blipFill>
        <p:spPr>
          <a:xfrm>
            <a:off x="2334768" y="2774468"/>
            <a:ext cx="6779524" cy="3270823"/>
          </a:xfrm>
          <a:prstGeom prst="rect">
            <a:avLst/>
          </a:prstGeom>
        </p:spPr>
      </p:pic>
    </p:spTree>
    <p:extLst>
      <p:ext uri="{BB962C8B-B14F-4D97-AF65-F5344CB8AC3E}">
        <p14:creationId xmlns:p14="http://schemas.microsoft.com/office/powerpoint/2010/main" val="6110295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BCD59-4F2B-AC87-17D6-CAAB003180F1}"/>
              </a:ext>
            </a:extLst>
          </p:cNvPr>
          <p:cNvSpPr>
            <a:spLocks noGrp="1"/>
          </p:cNvSpPr>
          <p:nvPr>
            <p:ph type="title"/>
          </p:nvPr>
        </p:nvSpPr>
        <p:spPr/>
        <p:txBody>
          <a:bodyPr/>
          <a:lstStyle/>
          <a:p>
            <a:r>
              <a:rPr lang="en-PH" dirty="0"/>
              <a:t>Management 101: Competencies for Success</a:t>
            </a:r>
          </a:p>
        </p:txBody>
      </p:sp>
      <p:sp>
        <p:nvSpPr>
          <p:cNvPr id="7" name="Content Placeholder 6">
            <a:extLst>
              <a:ext uri="{FF2B5EF4-FFF2-40B4-BE49-F238E27FC236}">
                <a16:creationId xmlns:a16="http://schemas.microsoft.com/office/drawing/2014/main" id="{0E0D73D0-5B1D-58EA-20E4-D44CD5E0D554}"/>
              </a:ext>
            </a:extLst>
          </p:cNvPr>
          <p:cNvSpPr>
            <a:spLocks noGrp="1"/>
          </p:cNvSpPr>
          <p:nvPr>
            <p:ph idx="1"/>
          </p:nvPr>
        </p:nvSpPr>
        <p:spPr/>
        <p:txBody>
          <a:bodyPr/>
          <a:lstStyle/>
          <a:p>
            <a:r>
              <a:rPr lang="en-US" dirty="0"/>
              <a:t>The scope of modern ambition requires </a:t>
            </a:r>
            <a:r>
              <a:rPr lang="en-US" b="1" dirty="0"/>
              <a:t>Business Analysts</a:t>
            </a:r>
            <a:r>
              <a:rPr lang="en-US" dirty="0"/>
              <a:t> focused on wholesale business change, not just requirements gathering.</a:t>
            </a:r>
          </a:p>
          <a:p>
            <a:r>
              <a:rPr lang="en-US" dirty="0"/>
              <a:t>While technology provides the opportunity, </a:t>
            </a:r>
            <a:r>
              <a:rPr lang="en-US" b="1" dirty="0"/>
              <a:t>people</a:t>
            </a:r>
            <a:r>
              <a:rPr lang="en-US" dirty="0"/>
              <a:t> and the management of change remain the primary issues.</a:t>
            </a:r>
          </a:p>
          <a:p>
            <a:r>
              <a:rPr lang="en-US" dirty="0"/>
              <a:t>No single role (like a project manager) can deliver success alone; all stakeholders must collaborate in the </a:t>
            </a:r>
            <a:r>
              <a:rPr lang="en-US" b="1" dirty="0"/>
              <a:t>middle ground </a:t>
            </a:r>
            <a:r>
              <a:rPr lang="en-US" dirty="0"/>
              <a:t>of business change.</a:t>
            </a:r>
            <a:endParaRPr lang="en-PH" dirty="0"/>
          </a:p>
        </p:txBody>
      </p:sp>
    </p:spTree>
    <p:extLst>
      <p:ext uri="{BB962C8B-B14F-4D97-AF65-F5344CB8AC3E}">
        <p14:creationId xmlns:p14="http://schemas.microsoft.com/office/powerpoint/2010/main" val="33468050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7776C-158B-93CF-800A-FD12796931DE}"/>
              </a:ext>
            </a:extLst>
          </p:cNvPr>
          <p:cNvSpPr>
            <a:spLocks noGrp="1"/>
          </p:cNvSpPr>
          <p:nvPr>
            <p:ph type="title"/>
          </p:nvPr>
        </p:nvSpPr>
        <p:spPr/>
        <p:txBody>
          <a:bodyPr/>
          <a:lstStyle/>
          <a:p>
            <a:r>
              <a:rPr lang="en-PH" dirty="0"/>
              <a:t>Stakeholder context</a:t>
            </a:r>
          </a:p>
        </p:txBody>
      </p:sp>
      <p:pic>
        <p:nvPicPr>
          <p:cNvPr id="5" name="Content Placeholder 4">
            <a:extLst>
              <a:ext uri="{FF2B5EF4-FFF2-40B4-BE49-F238E27FC236}">
                <a16:creationId xmlns:a16="http://schemas.microsoft.com/office/drawing/2014/main" id="{8A350780-AD7E-2675-5F53-1FA32FD5B084}"/>
              </a:ext>
            </a:extLst>
          </p:cNvPr>
          <p:cNvPicPr>
            <a:picLocks noGrp="1" noChangeAspect="1"/>
          </p:cNvPicPr>
          <p:nvPr>
            <p:ph idx="1"/>
          </p:nvPr>
        </p:nvPicPr>
        <p:blipFill>
          <a:blip r:embed="rId3"/>
          <a:stretch>
            <a:fillRect/>
          </a:stretch>
        </p:blipFill>
        <p:spPr>
          <a:xfrm>
            <a:off x="2682474" y="1880097"/>
            <a:ext cx="5753903" cy="4248743"/>
          </a:xfrm>
        </p:spPr>
      </p:pic>
    </p:spTree>
    <p:extLst>
      <p:ext uri="{BB962C8B-B14F-4D97-AF65-F5344CB8AC3E}">
        <p14:creationId xmlns:p14="http://schemas.microsoft.com/office/powerpoint/2010/main" val="4731664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83CDA-C91A-2D8D-8565-3C164FBF8CE5}"/>
              </a:ext>
            </a:extLst>
          </p:cNvPr>
          <p:cNvSpPr>
            <a:spLocks noGrp="1"/>
          </p:cNvSpPr>
          <p:nvPr>
            <p:ph type="title"/>
          </p:nvPr>
        </p:nvSpPr>
        <p:spPr/>
        <p:txBody>
          <a:bodyPr/>
          <a:lstStyle/>
          <a:p>
            <a:r>
              <a:rPr lang="en-PH" dirty="0"/>
              <a:t>Thank you for listening!</a:t>
            </a:r>
          </a:p>
        </p:txBody>
      </p:sp>
      <p:sp>
        <p:nvSpPr>
          <p:cNvPr id="5" name="Text Placeholder 4">
            <a:extLst>
              <a:ext uri="{FF2B5EF4-FFF2-40B4-BE49-F238E27FC236}">
                <a16:creationId xmlns:a16="http://schemas.microsoft.com/office/drawing/2014/main" id="{C22A5CF0-4F77-DCE7-9D57-C3FB8847AF0F}"/>
              </a:ext>
            </a:extLst>
          </p:cNvPr>
          <p:cNvSpPr>
            <a:spLocks noGrp="1"/>
          </p:cNvSpPr>
          <p:nvPr>
            <p:ph type="body" idx="1"/>
          </p:nvPr>
        </p:nvSpPr>
        <p:spPr/>
        <p:txBody>
          <a:bodyPr>
            <a:normAutofit lnSpcReduction="10000"/>
          </a:bodyPr>
          <a:lstStyle/>
          <a:p>
            <a:r>
              <a:rPr lang="en-PH" sz="1800" u="sng" dirty="0">
                <a:solidFill>
                  <a:srgbClr val="0563C1"/>
                </a:solidFill>
                <a:effectLst/>
                <a:latin typeface="Calibri" panose="020F0502020204030204" pitchFamily="34" charset="0"/>
                <a:ea typeface="Calibri" panose="020F0502020204030204" pitchFamily="34" charset="0"/>
                <a:hlinkClick r:id="rId2"/>
              </a:rPr>
              <a:t>https://www.scribd.com/presentation/581918008/Unit-1-Introduction-to-Data-Information-Knowledge</a:t>
            </a:r>
            <a:r>
              <a:rPr lang="en-PH" sz="1800" dirty="0">
                <a:effectLst/>
                <a:latin typeface="Calibri" panose="020F0502020204030204" pitchFamily="34" charset="0"/>
                <a:ea typeface="Calibri" panose="020F0502020204030204" pitchFamily="34" charset="0"/>
              </a:rPr>
              <a:t> </a:t>
            </a:r>
          </a:p>
          <a:p>
            <a:r>
              <a:rPr lang="en-PH" sz="1800" dirty="0">
                <a:effectLst/>
                <a:latin typeface="Calibri" panose="020F0502020204030204" pitchFamily="34" charset="0"/>
                <a:ea typeface="Calibri" panose="020F0502020204030204" pitchFamily="34" charset="0"/>
                <a:hlinkClick r:id="rId3"/>
              </a:rPr>
              <a:t>https://www.cambridgeinternational.org/images/285017-data-information-and-knowledge.pdf</a:t>
            </a:r>
            <a:r>
              <a:rPr lang="en-PH" sz="1800" dirty="0">
                <a:effectLst/>
                <a:latin typeface="Calibri" panose="020F0502020204030204" pitchFamily="34" charset="0"/>
                <a:ea typeface="Calibri" panose="020F0502020204030204" pitchFamily="34" charset="0"/>
              </a:rPr>
              <a:t> </a:t>
            </a:r>
          </a:p>
          <a:p>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Bytheway</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(2014). </a:t>
            </a:r>
            <a:r>
              <a:rPr kumimoji="0" lang="en-US" altLang="en-US"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Investing in information: The Information Management Body of Knowledge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Springer.</a:t>
            </a:r>
            <a:endParaRPr kumimoji="0" lang="en-US" altLang="en-US" sz="2800" b="0" i="0" u="none" strike="noStrike" cap="none" normalizeH="0" baseline="0" dirty="0">
              <a:ln>
                <a:noFill/>
              </a:ln>
              <a:solidFill>
                <a:schemeClr val="tx1"/>
              </a:solidFill>
              <a:effectLst/>
              <a:latin typeface="Arial" panose="020B0604020202020204" pitchFamily="34" charset="0"/>
            </a:endParaRPr>
          </a:p>
          <a:p>
            <a:endParaRPr lang="en-PH" sz="1800" dirty="0">
              <a:effectLst/>
              <a:latin typeface="Calibri" panose="020F0502020204030204" pitchFamily="34" charset="0"/>
              <a:ea typeface="Calibri" panose="020F0502020204030204" pitchFamily="34" charset="0"/>
            </a:endParaRPr>
          </a:p>
          <a:p>
            <a:endParaRPr lang="en-PH" dirty="0"/>
          </a:p>
        </p:txBody>
      </p:sp>
    </p:spTree>
    <p:extLst>
      <p:ext uri="{BB962C8B-B14F-4D97-AF65-F5344CB8AC3E}">
        <p14:creationId xmlns:p14="http://schemas.microsoft.com/office/powerpoint/2010/main" val="2420915701"/>
      </p:ext>
    </p:extLst>
  </p:cSld>
  <p:clrMapOvr>
    <a:masterClrMapping/>
  </p:clrMapOvr>
</p:sld>
</file>

<file path=ppt/theme/theme1.xml><?xml version="1.0" encoding="utf-8"?>
<a:theme xmlns:a="http://schemas.openxmlformats.org/drawingml/2006/main" name="View">
  <a:themeElements>
    <a:clrScheme name="View">
      <a:dk1>
        <a:sysClr val="windowText" lastClr="000000"/>
      </a:dk1>
      <a:lt1>
        <a:sysClr val="window" lastClr="FFFFFF"/>
      </a:lt1>
      <a:dk2>
        <a:srgbClr val="666666"/>
      </a:dk2>
      <a:lt2>
        <a:srgbClr val="D2D2D2"/>
      </a:lt2>
      <a:accent1>
        <a:srgbClr val="FF388C"/>
      </a:accent1>
      <a:accent2>
        <a:srgbClr val="D70D5E"/>
      </a:accent2>
      <a:accent3>
        <a:srgbClr val="98037E"/>
      </a:accent3>
      <a:accent4>
        <a:srgbClr val="68027D"/>
      </a:accent4>
      <a:accent5>
        <a:srgbClr val="095ACA"/>
      </a:accent5>
      <a:accent6>
        <a:srgbClr val="063597"/>
      </a:accent6>
      <a:hlink>
        <a:srgbClr val="17BBFD"/>
      </a:hlink>
      <a:folHlink>
        <a:srgbClr val="FF79C2"/>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3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23C5FE65-18CC-4A65-9EBC-B05E331504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TM03457515[[fn=View]]</Template>
  <TotalTime>156</TotalTime>
  <Words>1190</Words>
  <Application>Microsoft Office PowerPoint</Application>
  <PresentationFormat>Widescreen</PresentationFormat>
  <Paragraphs>93</Paragraphs>
  <Slides>22</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Century Schoolbook</vt:lpstr>
      <vt:lpstr>Times New Roman</vt:lpstr>
      <vt:lpstr>Wingdings 2</vt:lpstr>
      <vt:lpstr>View</vt:lpstr>
      <vt:lpstr>Introduction to Information Management</vt:lpstr>
      <vt:lpstr>What is Information?</vt:lpstr>
      <vt:lpstr>Data vs Information</vt:lpstr>
      <vt:lpstr>Data vs Information</vt:lpstr>
      <vt:lpstr>What is Knowledge</vt:lpstr>
      <vt:lpstr>PowerPoint Presentation</vt:lpstr>
      <vt:lpstr>PowerPoint Presentation</vt:lpstr>
      <vt:lpstr>PowerPoint Presentation</vt:lpstr>
      <vt:lpstr>Data, Information, and Knowledge</vt:lpstr>
      <vt:lpstr>What is Information Management?</vt:lpstr>
      <vt:lpstr>Information Management</vt:lpstr>
      <vt:lpstr>Information Management</vt:lpstr>
      <vt:lpstr>Evolution of Information Management</vt:lpstr>
      <vt:lpstr>Evolution of Information Management</vt:lpstr>
      <vt:lpstr>Evolution of Information Management</vt:lpstr>
      <vt:lpstr>A Case Study</vt:lpstr>
      <vt:lpstr>There shouldn’t be a “chasm”</vt:lpstr>
      <vt:lpstr>The New Goal of IT Professionals</vt:lpstr>
      <vt:lpstr>Management 101</vt:lpstr>
      <vt:lpstr>Management 101: Competencies for Success</vt:lpstr>
      <vt:lpstr>Stakeholder context</vt:lpstr>
      <vt:lpstr>Thank you for listening!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Information Management</dc:title>
  <dc:creator>jan ryan simyunn</dc:creator>
  <cp:lastModifiedBy>jan ryan simyunn</cp:lastModifiedBy>
  <cp:revision>2</cp:revision>
  <dcterms:created xsi:type="dcterms:W3CDTF">2026-07-26T03:54:04Z</dcterms:created>
  <dcterms:modified xsi:type="dcterms:W3CDTF">2026-07-26T06:30:23Z</dcterms:modified>
</cp:coreProperties>
</file>
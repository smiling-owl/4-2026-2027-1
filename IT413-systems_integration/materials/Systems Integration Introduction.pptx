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sldIdLst>
    <p:sldId id="257" r:id="rId5"/>
    <p:sldId id="262" r:id="rId6"/>
    <p:sldId id="263" r:id="rId7"/>
    <p:sldId id="264" r:id="rId8"/>
    <p:sldId id="267" r:id="rId9"/>
    <p:sldId id="265" r:id="rId10"/>
    <p:sldId id="266" r:id="rId11"/>
    <p:sldId id="271" r:id="rId12"/>
    <p:sldId id="270" r:id="rId13"/>
    <p:sldId id="274" r:id="rId14"/>
    <p:sldId id="268" r:id="rId15"/>
    <p:sldId id="269" r:id="rId16"/>
    <p:sldId id="273"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7/23/2026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7/23/2026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7/23/2026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7/23/2026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7/23/2026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7/23/2026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7/23/2026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7/23/2026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7/23/2026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7/23/2026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82" name="Rectangle 8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1630907"/>
          </a:xfrm>
        </p:spPr>
        <p:txBody>
          <a:bodyPr>
            <a:normAutofit/>
          </a:bodyPr>
          <a:lstStyle/>
          <a:p>
            <a:r>
              <a:rPr lang="en-US" sz="4400" dirty="0">
                <a:solidFill>
                  <a:schemeClr val="tx1"/>
                </a:solidFill>
              </a:rPr>
              <a:t>Systems Integration</a:t>
            </a:r>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0A44-C37E-47BA-AE88-3011E363C68A}"/>
              </a:ext>
            </a:extLst>
          </p:cNvPr>
          <p:cNvSpPr>
            <a:spLocks noGrp="1"/>
          </p:cNvSpPr>
          <p:nvPr>
            <p:ph type="title"/>
          </p:nvPr>
        </p:nvSpPr>
        <p:spPr/>
        <p:txBody>
          <a:bodyPr/>
          <a:lstStyle/>
          <a:p>
            <a:r>
              <a:rPr lang="en-PH" dirty="0"/>
              <a:t>The What and Why</a:t>
            </a:r>
          </a:p>
        </p:txBody>
      </p:sp>
      <p:sp>
        <p:nvSpPr>
          <p:cNvPr id="3" name="Content Placeholder 2">
            <a:extLst>
              <a:ext uri="{FF2B5EF4-FFF2-40B4-BE49-F238E27FC236}">
                <a16:creationId xmlns:a16="http://schemas.microsoft.com/office/drawing/2014/main" id="{983A0131-20AB-4875-A430-E623142E0E99}"/>
              </a:ext>
            </a:extLst>
          </p:cNvPr>
          <p:cNvSpPr>
            <a:spLocks noGrp="1"/>
          </p:cNvSpPr>
          <p:nvPr>
            <p:ph idx="1"/>
          </p:nvPr>
        </p:nvSpPr>
        <p:spPr/>
        <p:txBody>
          <a:bodyPr>
            <a:normAutofit/>
          </a:bodyPr>
          <a:lstStyle/>
          <a:p>
            <a:r>
              <a:rPr lang="en-PH" sz="2000" dirty="0"/>
              <a:t>System Integration</a:t>
            </a:r>
          </a:p>
          <a:p>
            <a:pPr lvl="1"/>
            <a:r>
              <a:rPr lang="en-US" sz="1800" dirty="0"/>
              <a:t>process of putting or bringing together the different systems into one system and ensuring that these interdependent systems function together as a unified system.</a:t>
            </a:r>
          </a:p>
          <a:p>
            <a:pPr lvl="1"/>
            <a:r>
              <a:rPr lang="en-US" sz="1800" dirty="0"/>
              <a:t>facilitates communication</a:t>
            </a:r>
          </a:p>
          <a:p>
            <a:pPr lvl="1"/>
            <a:r>
              <a:rPr lang="en-US" sz="1800" dirty="0"/>
              <a:t>Spaghetti Integration</a:t>
            </a:r>
          </a:p>
          <a:p>
            <a:pPr lvl="1"/>
            <a:r>
              <a:rPr lang="en-US" sz="1800" dirty="0"/>
              <a:t>Enterprise Integration</a:t>
            </a:r>
          </a:p>
          <a:p>
            <a:pPr lvl="2"/>
            <a:r>
              <a:rPr lang="en-US" sz="1700" dirty="0"/>
              <a:t>The strategic consideration of the process, methods, tools and technologies associated with achieving interoperability between IT applications both within and external to the enterprise to enable collaborative business processes.</a:t>
            </a:r>
          </a:p>
          <a:p>
            <a:pPr lvl="1"/>
            <a:endParaRPr lang="en-US" sz="1800" dirty="0"/>
          </a:p>
          <a:p>
            <a:pPr lvl="1"/>
            <a:endParaRPr lang="en-PH" sz="1800" dirty="0"/>
          </a:p>
          <a:p>
            <a:pPr lvl="1"/>
            <a:endParaRPr lang="en-PH" sz="1800" dirty="0"/>
          </a:p>
        </p:txBody>
      </p:sp>
    </p:spTree>
    <p:extLst>
      <p:ext uri="{BB962C8B-B14F-4D97-AF65-F5344CB8AC3E}">
        <p14:creationId xmlns:p14="http://schemas.microsoft.com/office/powerpoint/2010/main" val="234877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ABABA-1426-4A49-9C3F-6E2711E99D48}"/>
              </a:ext>
            </a:extLst>
          </p:cNvPr>
          <p:cNvSpPr>
            <a:spLocks noGrp="1"/>
          </p:cNvSpPr>
          <p:nvPr>
            <p:ph type="title"/>
          </p:nvPr>
        </p:nvSpPr>
        <p:spPr/>
        <p:txBody>
          <a:bodyPr/>
          <a:lstStyle/>
          <a:p>
            <a:r>
              <a:rPr lang="en-US" dirty="0"/>
              <a:t>Enterprise Integration</a:t>
            </a:r>
            <a:endParaRPr lang="en-PH" dirty="0"/>
          </a:p>
        </p:txBody>
      </p:sp>
      <p:sp>
        <p:nvSpPr>
          <p:cNvPr id="3" name="Content Placeholder 2">
            <a:extLst>
              <a:ext uri="{FF2B5EF4-FFF2-40B4-BE49-F238E27FC236}">
                <a16:creationId xmlns:a16="http://schemas.microsoft.com/office/drawing/2014/main" id="{5F554535-8980-4313-BA43-44AF0849D956}"/>
              </a:ext>
            </a:extLst>
          </p:cNvPr>
          <p:cNvSpPr>
            <a:spLocks noGrp="1"/>
          </p:cNvSpPr>
          <p:nvPr>
            <p:ph idx="1"/>
          </p:nvPr>
        </p:nvSpPr>
        <p:spPr/>
        <p:txBody>
          <a:bodyPr/>
          <a:lstStyle/>
          <a:p>
            <a:r>
              <a:rPr lang="en-US" dirty="0"/>
              <a:t>Is business driven rather than technology driven</a:t>
            </a:r>
          </a:p>
          <a:p>
            <a:r>
              <a:rPr lang="en-US" dirty="0"/>
              <a:t>Coordinates business processes with and cross different parts of the enterprise</a:t>
            </a:r>
          </a:p>
          <a:p>
            <a:r>
              <a:rPr lang="en-US" dirty="0"/>
              <a:t>Involves multiple stakeholders</a:t>
            </a:r>
          </a:p>
          <a:p>
            <a:r>
              <a:rPr lang="en-US" dirty="0"/>
              <a:t>Adopts a strategic rather than tactical or localized view</a:t>
            </a:r>
            <a:endParaRPr lang="en-PH" dirty="0"/>
          </a:p>
        </p:txBody>
      </p:sp>
    </p:spTree>
    <p:extLst>
      <p:ext uri="{BB962C8B-B14F-4D97-AF65-F5344CB8AC3E}">
        <p14:creationId xmlns:p14="http://schemas.microsoft.com/office/powerpoint/2010/main" val="24067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329D9-3B28-4C94-ACE4-F7C3A4E5EDA6}"/>
              </a:ext>
            </a:extLst>
          </p:cNvPr>
          <p:cNvSpPr>
            <a:spLocks noGrp="1"/>
          </p:cNvSpPr>
          <p:nvPr>
            <p:ph type="title"/>
          </p:nvPr>
        </p:nvSpPr>
        <p:spPr/>
        <p:txBody>
          <a:bodyPr/>
          <a:lstStyle/>
          <a:p>
            <a:r>
              <a:rPr lang="en-US" dirty="0"/>
              <a:t>Business Problems</a:t>
            </a:r>
            <a:endParaRPr lang="en-PH" dirty="0"/>
          </a:p>
        </p:txBody>
      </p:sp>
      <p:sp>
        <p:nvSpPr>
          <p:cNvPr id="3" name="Content Placeholder 2">
            <a:extLst>
              <a:ext uri="{FF2B5EF4-FFF2-40B4-BE49-F238E27FC236}">
                <a16:creationId xmlns:a16="http://schemas.microsoft.com/office/drawing/2014/main" id="{764E6AAA-02F5-4C79-B790-A81F1794F00E}"/>
              </a:ext>
            </a:extLst>
          </p:cNvPr>
          <p:cNvSpPr>
            <a:spLocks noGrp="1"/>
          </p:cNvSpPr>
          <p:nvPr>
            <p:ph idx="1"/>
          </p:nvPr>
        </p:nvSpPr>
        <p:spPr/>
        <p:txBody>
          <a:bodyPr>
            <a:normAutofit/>
          </a:bodyPr>
          <a:lstStyle/>
          <a:p>
            <a:r>
              <a:rPr lang="en-US" dirty="0"/>
              <a:t>Information Aggregation</a:t>
            </a:r>
          </a:p>
          <a:p>
            <a:pPr lvl="1"/>
            <a:r>
              <a:rPr lang="en-US" dirty="0"/>
              <a:t>Presenting information from multiple IT sources into a single view</a:t>
            </a:r>
          </a:p>
          <a:p>
            <a:r>
              <a:rPr lang="en-US" dirty="0"/>
              <a:t>Single point of data entry</a:t>
            </a:r>
          </a:p>
          <a:p>
            <a:pPr lvl="1"/>
            <a:r>
              <a:rPr lang="en-US" dirty="0"/>
              <a:t>Replacing the need for manual and duplicate data entry into multiple IT applications</a:t>
            </a:r>
          </a:p>
          <a:p>
            <a:r>
              <a:rPr lang="en-US" dirty="0"/>
              <a:t>Process inefficiency</a:t>
            </a:r>
          </a:p>
          <a:p>
            <a:pPr lvl="1"/>
            <a:r>
              <a:rPr lang="en-US" dirty="0"/>
              <a:t>Reducing effort and time for business processes to complete</a:t>
            </a:r>
          </a:p>
          <a:p>
            <a:r>
              <a:rPr lang="en-US" dirty="0"/>
              <a:t>Web channel integration</a:t>
            </a:r>
          </a:p>
          <a:p>
            <a:pPr lvl="1"/>
            <a:r>
              <a:rPr lang="en-US" dirty="0"/>
              <a:t>Enabling web-based customers and other stakeholders access</a:t>
            </a:r>
          </a:p>
          <a:p>
            <a:r>
              <a:rPr lang="en-US" dirty="0"/>
              <a:t>Supplier integration and supply chain optimization:</a:t>
            </a:r>
          </a:p>
          <a:p>
            <a:pPr lvl="1"/>
            <a:r>
              <a:rPr lang="en-US" dirty="0"/>
              <a:t>Enabling a supplier to integrate with a larger company’s business process or an electronic marketplace</a:t>
            </a:r>
          </a:p>
          <a:p>
            <a:endParaRPr lang="en-PH" dirty="0"/>
          </a:p>
        </p:txBody>
      </p:sp>
    </p:spTree>
    <p:extLst>
      <p:ext uri="{BB962C8B-B14F-4D97-AF65-F5344CB8AC3E}">
        <p14:creationId xmlns:p14="http://schemas.microsoft.com/office/powerpoint/2010/main" val="3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5281-58A0-40C8-A180-B7D044AAC117}"/>
              </a:ext>
            </a:extLst>
          </p:cNvPr>
          <p:cNvSpPr>
            <a:spLocks noGrp="1"/>
          </p:cNvSpPr>
          <p:nvPr>
            <p:ph type="title"/>
          </p:nvPr>
        </p:nvSpPr>
        <p:spPr/>
        <p:txBody>
          <a:bodyPr/>
          <a:lstStyle/>
          <a:p>
            <a:r>
              <a:rPr lang="en-US" dirty="0"/>
              <a:t>Discussion Point 1</a:t>
            </a:r>
            <a:endParaRPr lang="en-PH" dirty="0"/>
          </a:p>
        </p:txBody>
      </p:sp>
      <p:sp>
        <p:nvSpPr>
          <p:cNvPr id="3" name="Content Placeholder 2">
            <a:extLst>
              <a:ext uri="{FF2B5EF4-FFF2-40B4-BE49-F238E27FC236}">
                <a16:creationId xmlns:a16="http://schemas.microsoft.com/office/drawing/2014/main" id="{5FA88D11-73E7-48F4-BA8B-5401197FC266}"/>
              </a:ext>
            </a:extLst>
          </p:cNvPr>
          <p:cNvSpPr>
            <a:spLocks noGrp="1"/>
          </p:cNvSpPr>
          <p:nvPr>
            <p:ph idx="1"/>
          </p:nvPr>
        </p:nvSpPr>
        <p:spPr/>
        <p:txBody>
          <a:bodyPr/>
          <a:lstStyle/>
          <a:p>
            <a:r>
              <a:rPr lang="en-US" dirty="0"/>
              <a:t>Recall your internship/OJT?</a:t>
            </a:r>
          </a:p>
          <a:p>
            <a:r>
              <a:rPr lang="en-US" dirty="0"/>
              <a:t>Can you identify/mention business problems that perhaps exist because of having several disconnected systems? </a:t>
            </a:r>
          </a:p>
          <a:p>
            <a:pPr marL="0" indent="0">
              <a:buNone/>
            </a:pPr>
            <a:endParaRPr lang="en-PH" dirty="0"/>
          </a:p>
        </p:txBody>
      </p:sp>
    </p:spTree>
    <p:extLst>
      <p:ext uri="{BB962C8B-B14F-4D97-AF65-F5344CB8AC3E}">
        <p14:creationId xmlns:p14="http://schemas.microsoft.com/office/powerpoint/2010/main" val="306021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C6305-F812-4D12-8291-621AE0ADACA1}"/>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F4460238-D6B8-47FF-9169-2BAE27558222}"/>
              </a:ext>
            </a:extLst>
          </p:cNvPr>
          <p:cNvSpPr>
            <a:spLocks noGrp="1"/>
          </p:cNvSpPr>
          <p:nvPr>
            <p:ph idx="1"/>
          </p:nvPr>
        </p:nvSpPr>
        <p:spPr/>
        <p:txBody>
          <a:bodyPr>
            <a:normAutofit fontScale="92500"/>
          </a:bodyPr>
          <a:lstStyle/>
          <a:p>
            <a:endParaRPr lang="en-US" dirty="0"/>
          </a:p>
          <a:p>
            <a:endParaRPr lang="en-PH" dirty="0"/>
          </a:p>
          <a:p>
            <a:endParaRPr lang="en-PH" dirty="0"/>
          </a:p>
          <a:p>
            <a:endParaRPr lang="en-PH" dirty="0"/>
          </a:p>
          <a:p>
            <a:endParaRPr lang="en-PH" dirty="0"/>
          </a:p>
          <a:p>
            <a:endParaRPr lang="en-PH" dirty="0"/>
          </a:p>
          <a:p>
            <a:endParaRPr lang="en-PH" dirty="0"/>
          </a:p>
          <a:p>
            <a:endParaRPr lang="en-PH" dirty="0"/>
          </a:p>
          <a:p>
            <a:endParaRPr lang="en-PH" dirty="0"/>
          </a:p>
          <a:p>
            <a:endParaRPr lang="en-PH" dirty="0"/>
          </a:p>
          <a:p>
            <a:r>
              <a:rPr lang="en-PH" i="1" dirty="0" err="1"/>
              <a:t>Sourse</a:t>
            </a:r>
            <a:r>
              <a:rPr lang="en-PH" i="1" dirty="0"/>
              <a:t>: Enterprise Architecture and Integration: Methods, Implementations and Technologies by Wing Lam</a:t>
            </a:r>
          </a:p>
        </p:txBody>
      </p:sp>
      <p:pic>
        <p:nvPicPr>
          <p:cNvPr id="5" name="Picture 4">
            <a:extLst>
              <a:ext uri="{FF2B5EF4-FFF2-40B4-BE49-F238E27FC236}">
                <a16:creationId xmlns:a16="http://schemas.microsoft.com/office/drawing/2014/main" id="{CB2E1465-55C7-44DF-B8C0-AE6D54E3C86B}"/>
              </a:ext>
            </a:extLst>
          </p:cNvPr>
          <p:cNvPicPr>
            <a:picLocks noChangeAspect="1"/>
          </p:cNvPicPr>
          <p:nvPr/>
        </p:nvPicPr>
        <p:blipFill>
          <a:blip r:embed="rId2"/>
          <a:stretch>
            <a:fillRect/>
          </a:stretch>
        </p:blipFill>
        <p:spPr>
          <a:xfrm>
            <a:off x="1876926" y="1329556"/>
            <a:ext cx="8069179" cy="4015285"/>
          </a:xfrm>
          <a:prstGeom prst="rect">
            <a:avLst/>
          </a:prstGeom>
        </p:spPr>
      </p:pic>
    </p:spTree>
    <p:extLst>
      <p:ext uri="{BB962C8B-B14F-4D97-AF65-F5344CB8AC3E}">
        <p14:creationId xmlns:p14="http://schemas.microsoft.com/office/powerpoint/2010/main" val="2046124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E4655-058F-411E-997A-0500CFE7DB03}"/>
              </a:ext>
            </a:extLst>
          </p:cNvPr>
          <p:cNvSpPr>
            <a:spLocks noGrp="1"/>
          </p:cNvSpPr>
          <p:nvPr>
            <p:ph type="title"/>
          </p:nvPr>
        </p:nvSpPr>
        <p:spPr/>
        <p:txBody>
          <a:bodyPr/>
          <a:lstStyle/>
          <a:p>
            <a:r>
              <a:rPr lang="en-US" dirty="0"/>
              <a:t>Systems Integration Methods</a:t>
            </a:r>
            <a:endParaRPr lang="en-PH" dirty="0"/>
          </a:p>
        </p:txBody>
      </p:sp>
      <p:sp>
        <p:nvSpPr>
          <p:cNvPr id="3" name="Content Placeholder 2">
            <a:extLst>
              <a:ext uri="{FF2B5EF4-FFF2-40B4-BE49-F238E27FC236}">
                <a16:creationId xmlns:a16="http://schemas.microsoft.com/office/drawing/2014/main" id="{3218DA45-11B6-47E1-A44D-FD32181897F4}"/>
              </a:ext>
            </a:extLst>
          </p:cNvPr>
          <p:cNvSpPr>
            <a:spLocks noGrp="1"/>
          </p:cNvSpPr>
          <p:nvPr>
            <p:ph idx="1"/>
          </p:nvPr>
        </p:nvSpPr>
        <p:spPr/>
        <p:txBody>
          <a:bodyPr/>
          <a:lstStyle/>
          <a:p>
            <a:r>
              <a:rPr lang="en-US" dirty="0"/>
              <a:t>Horizontal Integration</a:t>
            </a:r>
          </a:p>
          <a:p>
            <a:pPr lvl="1"/>
            <a:r>
              <a:rPr lang="en-US" dirty="0"/>
              <a:t>Creation of a subsystem meant to be the interface between all other subsystems</a:t>
            </a:r>
          </a:p>
          <a:p>
            <a:pPr lvl="1"/>
            <a:r>
              <a:rPr lang="en-US" dirty="0"/>
              <a:t>Also referred to as Enterprise  Service Bus (ESB)</a:t>
            </a:r>
          </a:p>
          <a:p>
            <a:r>
              <a:rPr lang="en-US" dirty="0"/>
              <a:t>Vertical Integration</a:t>
            </a:r>
          </a:p>
          <a:p>
            <a:pPr lvl="1"/>
            <a:r>
              <a:rPr lang="en-US" dirty="0"/>
              <a:t>Creation of depositories  or silos</a:t>
            </a:r>
          </a:p>
          <a:p>
            <a:r>
              <a:rPr lang="en-US" dirty="0"/>
              <a:t>Star Integration</a:t>
            </a:r>
          </a:p>
          <a:p>
            <a:pPr lvl="1"/>
            <a:r>
              <a:rPr lang="en-US" dirty="0"/>
              <a:t>Sub-systems are connected with other sub-systems using point-to-point connections</a:t>
            </a:r>
          </a:p>
          <a:p>
            <a:r>
              <a:rPr lang="en-US" dirty="0"/>
              <a:t>Common data format/integration</a:t>
            </a:r>
          </a:p>
          <a:p>
            <a:pPr lvl="1"/>
            <a:r>
              <a:rPr lang="en-US" dirty="0"/>
              <a:t>set a common or application-independent format, or they provide a service that does the transformation to or from one application into the common application.</a:t>
            </a:r>
          </a:p>
          <a:p>
            <a:endParaRPr lang="en-PH" dirty="0"/>
          </a:p>
        </p:txBody>
      </p:sp>
    </p:spTree>
    <p:extLst>
      <p:ext uri="{BB962C8B-B14F-4D97-AF65-F5344CB8AC3E}">
        <p14:creationId xmlns:p14="http://schemas.microsoft.com/office/powerpoint/2010/main" val="1947454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7C7E-7BAD-4C8F-8E99-990C8E7A5830}"/>
              </a:ext>
            </a:extLst>
          </p:cNvPr>
          <p:cNvSpPr>
            <a:spLocks noGrp="1"/>
          </p:cNvSpPr>
          <p:nvPr>
            <p:ph type="title"/>
          </p:nvPr>
        </p:nvSpPr>
        <p:spPr/>
        <p:txBody>
          <a:bodyPr/>
          <a:lstStyle/>
          <a:p>
            <a:r>
              <a:rPr lang="en-US" dirty="0"/>
              <a:t>Discussion point 2</a:t>
            </a:r>
            <a:endParaRPr lang="en-PH" dirty="0"/>
          </a:p>
        </p:txBody>
      </p:sp>
      <p:sp>
        <p:nvSpPr>
          <p:cNvPr id="3" name="Content Placeholder 2">
            <a:extLst>
              <a:ext uri="{FF2B5EF4-FFF2-40B4-BE49-F238E27FC236}">
                <a16:creationId xmlns:a16="http://schemas.microsoft.com/office/drawing/2014/main" id="{1AF2904F-8BA9-4CF9-98D2-B019258C63E9}"/>
              </a:ext>
            </a:extLst>
          </p:cNvPr>
          <p:cNvSpPr>
            <a:spLocks noGrp="1"/>
          </p:cNvSpPr>
          <p:nvPr>
            <p:ph idx="1"/>
          </p:nvPr>
        </p:nvSpPr>
        <p:spPr/>
        <p:txBody>
          <a:bodyPr/>
          <a:lstStyle/>
          <a:p>
            <a:r>
              <a:rPr lang="en-US" dirty="0"/>
              <a:t>Consider again the organization you work at during your OJT. Based on the different methods of integration, which one(s) can be used? Or if there are integrated systems already in place, what method(s) do you think are implemented?</a:t>
            </a:r>
            <a:endParaRPr lang="en-PH" dirty="0"/>
          </a:p>
        </p:txBody>
      </p:sp>
    </p:spTree>
    <p:extLst>
      <p:ext uri="{BB962C8B-B14F-4D97-AF65-F5344CB8AC3E}">
        <p14:creationId xmlns:p14="http://schemas.microsoft.com/office/powerpoint/2010/main" val="278251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BC93-592D-4FF0-BF89-8D41205567E7}"/>
              </a:ext>
            </a:extLst>
          </p:cNvPr>
          <p:cNvSpPr>
            <a:spLocks noGrp="1"/>
          </p:cNvSpPr>
          <p:nvPr>
            <p:ph type="title"/>
          </p:nvPr>
        </p:nvSpPr>
        <p:spPr/>
        <p:txBody>
          <a:bodyPr/>
          <a:lstStyle/>
          <a:p>
            <a:r>
              <a:rPr lang="en-US" dirty="0"/>
              <a:t>Integration Types</a:t>
            </a:r>
            <a:endParaRPr lang="en-PH" dirty="0"/>
          </a:p>
        </p:txBody>
      </p:sp>
      <p:sp>
        <p:nvSpPr>
          <p:cNvPr id="3" name="Content Placeholder 2">
            <a:extLst>
              <a:ext uri="{FF2B5EF4-FFF2-40B4-BE49-F238E27FC236}">
                <a16:creationId xmlns:a16="http://schemas.microsoft.com/office/drawing/2014/main" id="{44311DF6-53F6-424F-B4EE-39FFC75D8214}"/>
              </a:ext>
            </a:extLst>
          </p:cNvPr>
          <p:cNvSpPr>
            <a:spLocks noGrp="1"/>
          </p:cNvSpPr>
          <p:nvPr>
            <p:ph idx="1"/>
          </p:nvPr>
        </p:nvSpPr>
        <p:spPr/>
        <p:txBody>
          <a:bodyPr/>
          <a:lstStyle/>
          <a:p>
            <a:r>
              <a:rPr lang="en-PH" b="0" dirty="0">
                <a:effectLst/>
              </a:rPr>
              <a:t>Enterprise Application Integration – EAI</a:t>
            </a:r>
            <a:endParaRPr lang="en-PH" b="1" dirty="0"/>
          </a:p>
          <a:p>
            <a:r>
              <a:rPr lang="en-PH" dirty="0"/>
              <a:t>Data Integration  (DI)</a:t>
            </a:r>
          </a:p>
          <a:p>
            <a:r>
              <a:rPr lang="en-PH" dirty="0"/>
              <a:t>Electronic Data Interchange – EDI Integration</a:t>
            </a:r>
          </a:p>
        </p:txBody>
      </p:sp>
    </p:spTree>
    <p:extLst>
      <p:ext uri="{BB962C8B-B14F-4D97-AF65-F5344CB8AC3E}">
        <p14:creationId xmlns:p14="http://schemas.microsoft.com/office/powerpoint/2010/main" val="391500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54BF4-BFFB-4341-A831-13D740AD6C16}"/>
              </a:ext>
            </a:extLst>
          </p:cNvPr>
          <p:cNvSpPr>
            <a:spLocks noGrp="1"/>
          </p:cNvSpPr>
          <p:nvPr>
            <p:ph type="title"/>
          </p:nvPr>
        </p:nvSpPr>
        <p:spPr/>
        <p:txBody>
          <a:bodyPr/>
          <a:lstStyle/>
          <a:p>
            <a:r>
              <a:rPr lang="en-PH" dirty="0"/>
              <a:t>Discussion Point 3</a:t>
            </a:r>
          </a:p>
        </p:txBody>
      </p:sp>
      <p:sp>
        <p:nvSpPr>
          <p:cNvPr id="3" name="Content Placeholder 2">
            <a:extLst>
              <a:ext uri="{FF2B5EF4-FFF2-40B4-BE49-F238E27FC236}">
                <a16:creationId xmlns:a16="http://schemas.microsoft.com/office/drawing/2014/main" id="{074F0004-9979-4108-8DFC-8A076C7257AD}"/>
              </a:ext>
            </a:extLst>
          </p:cNvPr>
          <p:cNvSpPr>
            <a:spLocks noGrp="1"/>
          </p:cNvSpPr>
          <p:nvPr>
            <p:ph idx="1"/>
          </p:nvPr>
        </p:nvSpPr>
        <p:spPr/>
        <p:txBody>
          <a:bodyPr/>
          <a:lstStyle/>
          <a:p>
            <a:r>
              <a:rPr lang="en-PH" dirty="0"/>
              <a:t>Define and give software examples that can be used for these types of integration: EAI, DI, and EDI </a:t>
            </a:r>
          </a:p>
          <a:p>
            <a:pPr marL="0" indent="0">
              <a:buNone/>
            </a:pPr>
            <a:r>
              <a:rPr lang="en-PH" dirty="0"/>
              <a:t>    (one example for each)</a:t>
            </a:r>
          </a:p>
        </p:txBody>
      </p:sp>
    </p:spTree>
    <p:extLst>
      <p:ext uri="{BB962C8B-B14F-4D97-AF65-F5344CB8AC3E}">
        <p14:creationId xmlns:p14="http://schemas.microsoft.com/office/powerpoint/2010/main" val="1837193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AE29-DA9A-452E-B62B-B950AE02E271}"/>
              </a:ext>
            </a:extLst>
          </p:cNvPr>
          <p:cNvSpPr>
            <a:spLocks noGrp="1"/>
          </p:cNvSpPr>
          <p:nvPr>
            <p:ph type="title"/>
          </p:nvPr>
        </p:nvSpPr>
        <p:spPr/>
        <p:txBody>
          <a:bodyPr/>
          <a:lstStyle/>
          <a:p>
            <a:r>
              <a:rPr lang="en-US" dirty="0"/>
              <a:t>Discussion point 4</a:t>
            </a:r>
            <a:endParaRPr lang="en-PH" dirty="0"/>
          </a:p>
        </p:txBody>
      </p:sp>
      <p:sp>
        <p:nvSpPr>
          <p:cNvPr id="3" name="Content Placeholder 2">
            <a:extLst>
              <a:ext uri="{FF2B5EF4-FFF2-40B4-BE49-F238E27FC236}">
                <a16:creationId xmlns:a16="http://schemas.microsoft.com/office/drawing/2014/main" id="{6EFEA968-2F51-48DE-9673-487041AEC5F3}"/>
              </a:ext>
            </a:extLst>
          </p:cNvPr>
          <p:cNvSpPr>
            <a:spLocks noGrp="1"/>
          </p:cNvSpPr>
          <p:nvPr>
            <p:ph idx="1"/>
          </p:nvPr>
        </p:nvSpPr>
        <p:spPr/>
        <p:txBody>
          <a:bodyPr/>
          <a:lstStyle/>
          <a:p>
            <a:r>
              <a:rPr lang="en-US" dirty="0"/>
              <a:t>Can you guess what steps can be taken for systems integration?</a:t>
            </a:r>
            <a:endParaRPr lang="en-PH" dirty="0"/>
          </a:p>
        </p:txBody>
      </p:sp>
    </p:spTree>
    <p:extLst>
      <p:ext uri="{BB962C8B-B14F-4D97-AF65-F5344CB8AC3E}">
        <p14:creationId xmlns:p14="http://schemas.microsoft.com/office/powerpoint/2010/main" val="4222338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AE29-DA9A-452E-B62B-B950AE02E271}"/>
              </a:ext>
            </a:extLst>
          </p:cNvPr>
          <p:cNvSpPr>
            <a:spLocks noGrp="1"/>
          </p:cNvSpPr>
          <p:nvPr>
            <p:ph type="title"/>
          </p:nvPr>
        </p:nvSpPr>
        <p:spPr/>
        <p:txBody>
          <a:bodyPr/>
          <a:lstStyle/>
          <a:p>
            <a:r>
              <a:rPr lang="en-US" dirty="0"/>
              <a:t>General Steps in Systems Integration </a:t>
            </a:r>
            <a:endParaRPr lang="en-PH" dirty="0"/>
          </a:p>
        </p:txBody>
      </p:sp>
      <p:sp>
        <p:nvSpPr>
          <p:cNvPr id="3" name="Content Placeholder 2">
            <a:extLst>
              <a:ext uri="{FF2B5EF4-FFF2-40B4-BE49-F238E27FC236}">
                <a16:creationId xmlns:a16="http://schemas.microsoft.com/office/drawing/2014/main" id="{6EFEA968-2F51-48DE-9673-487041AEC5F3}"/>
              </a:ext>
            </a:extLst>
          </p:cNvPr>
          <p:cNvSpPr>
            <a:spLocks noGrp="1"/>
          </p:cNvSpPr>
          <p:nvPr>
            <p:ph idx="1"/>
          </p:nvPr>
        </p:nvSpPr>
        <p:spPr/>
        <p:txBody>
          <a:bodyPr/>
          <a:lstStyle/>
          <a:p>
            <a:r>
              <a:rPr lang="en-US" dirty="0"/>
              <a:t>Requirements Gathering</a:t>
            </a:r>
          </a:p>
          <a:p>
            <a:r>
              <a:rPr lang="en-US" dirty="0"/>
              <a:t>Data Analysis</a:t>
            </a:r>
          </a:p>
          <a:p>
            <a:r>
              <a:rPr lang="en-US" dirty="0"/>
              <a:t>Design Architecture</a:t>
            </a:r>
          </a:p>
          <a:p>
            <a:r>
              <a:rPr lang="en-US" dirty="0"/>
              <a:t>Design Systems integration </a:t>
            </a:r>
          </a:p>
          <a:p>
            <a:r>
              <a:rPr lang="en-US" dirty="0"/>
              <a:t>System Implementation</a:t>
            </a:r>
          </a:p>
          <a:p>
            <a:endParaRPr lang="en-US" dirty="0"/>
          </a:p>
          <a:p>
            <a:endParaRPr lang="en-PH" dirty="0"/>
          </a:p>
        </p:txBody>
      </p:sp>
    </p:spTree>
    <p:extLst>
      <p:ext uri="{BB962C8B-B14F-4D97-AF65-F5344CB8AC3E}">
        <p14:creationId xmlns:p14="http://schemas.microsoft.com/office/powerpoint/2010/main" val="1168669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004DE-41F5-4499-A831-9007176730B4}"/>
              </a:ext>
            </a:extLst>
          </p:cNvPr>
          <p:cNvSpPr>
            <a:spLocks noGrp="1"/>
          </p:cNvSpPr>
          <p:nvPr>
            <p:ph type="title"/>
          </p:nvPr>
        </p:nvSpPr>
        <p:spPr/>
        <p:txBody>
          <a:bodyPr/>
          <a:lstStyle/>
          <a:p>
            <a:r>
              <a:rPr lang="en-US" dirty="0"/>
              <a:t>Discussion point 5</a:t>
            </a:r>
            <a:endParaRPr lang="en-PH" dirty="0"/>
          </a:p>
        </p:txBody>
      </p:sp>
      <p:sp>
        <p:nvSpPr>
          <p:cNvPr id="3" name="Content Placeholder 2">
            <a:extLst>
              <a:ext uri="{FF2B5EF4-FFF2-40B4-BE49-F238E27FC236}">
                <a16:creationId xmlns:a16="http://schemas.microsoft.com/office/drawing/2014/main" id="{5D5D01E4-FE46-4142-84FE-43AF1DC1721F}"/>
              </a:ext>
            </a:extLst>
          </p:cNvPr>
          <p:cNvSpPr>
            <a:spLocks noGrp="1"/>
          </p:cNvSpPr>
          <p:nvPr>
            <p:ph idx="1"/>
          </p:nvPr>
        </p:nvSpPr>
        <p:spPr/>
        <p:txBody>
          <a:bodyPr>
            <a:normAutofit/>
          </a:bodyPr>
          <a:lstStyle/>
          <a:p>
            <a:pPr algn="l"/>
            <a:r>
              <a:rPr lang="en-US" dirty="0"/>
              <a:t>Can you phrase questions that will assess the need for integration?</a:t>
            </a:r>
            <a:endParaRPr lang="en-PH" dirty="0"/>
          </a:p>
        </p:txBody>
      </p:sp>
    </p:spTree>
    <p:extLst>
      <p:ext uri="{BB962C8B-B14F-4D97-AF65-F5344CB8AC3E}">
        <p14:creationId xmlns:p14="http://schemas.microsoft.com/office/powerpoint/2010/main" val="17873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004DE-41F5-4499-A831-9007176730B4}"/>
              </a:ext>
            </a:extLst>
          </p:cNvPr>
          <p:cNvSpPr>
            <a:spLocks noGrp="1"/>
          </p:cNvSpPr>
          <p:nvPr>
            <p:ph type="title"/>
          </p:nvPr>
        </p:nvSpPr>
        <p:spPr/>
        <p:txBody>
          <a:bodyPr/>
          <a:lstStyle/>
          <a:p>
            <a:r>
              <a:rPr lang="en-US" dirty="0"/>
              <a:t>Assessing the need for Integration</a:t>
            </a:r>
            <a:endParaRPr lang="en-PH" dirty="0"/>
          </a:p>
        </p:txBody>
      </p:sp>
      <p:sp>
        <p:nvSpPr>
          <p:cNvPr id="3" name="Content Placeholder 2">
            <a:extLst>
              <a:ext uri="{FF2B5EF4-FFF2-40B4-BE49-F238E27FC236}">
                <a16:creationId xmlns:a16="http://schemas.microsoft.com/office/drawing/2014/main" id="{5D5D01E4-FE46-4142-84FE-43AF1DC1721F}"/>
              </a:ext>
            </a:extLst>
          </p:cNvPr>
          <p:cNvSpPr>
            <a:spLocks noGrp="1"/>
          </p:cNvSpPr>
          <p:nvPr>
            <p:ph idx="1"/>
          </p:nvPr>
        </p:nvSpPr>
        <p:spPr/>
        <p:txBody>
          <a:bodyPr>
            <a:normAutofit/>
          </a:bodyPr>
          <a:lstStyle/>
          <a:p>
            <a:pPr algn="l"/>
            <a:r>
              <a:rPr lang="en-US" sz="1800" b="0" i="0" u="none" strike="noStrike" baseline="0" dirty="0">
                <a:latin typeface="Times New Roman" panose="02020603050405020304" pitchFamily="18" charset="0"/>
              </a:rPr>
              <a:t> Is there a requirement to collate information from several IT systems in real time to meet </a:t>
            </a:r>
            <a:r>
              <a:rPr lang="en-PH" sz="1800" b="0" i="0" u="none" strike="noStrike" baseline="0" dirty="0">
                <a:latin typeface="TimesNewRomanPSMT"/>
              </a:rPr>
              <a:t>specific business objectives?</a:t>
            </a:r>
          </a:p>
          <a:p>
            <a:pPr algn="l"/>
            <a:r>
              <a:rPr lang="en-US" sz="1800" b="0" i="0" u="none" strike="noStrike" baseline="0" dirty="0">
                <a:latin typeface="Times New Roman" panose="02020603050405020304" pitchFamily="18" charset="0"/>
              </a:rPr>
              <a:t>Does the </a:t>
            </a:r>
            <a:r>
              <a:rPr lang="en-US" sz="1800" b="0" i="0" u="none" strike="noStrike" baseline="0" dirty="0" err="1">
                <a:latin typeface="Times New Roman" panose="02020603050405020304" pitchFamily="18" charset="0"/>
              </a:rPr>
              <a:t>organisation</a:t>
            </a:r>
            <a:r>
              <a:rPr lang="en-US" sz="1800" b="0" i="0" u="none" strike="noStrike" baseline="0" dirty="0">
                <a:latin typeface="Times New Roman" panose="02020603050405020304" pitchFamily="18" charset="0"/>
              </a:rPr>
              <a:t> have many IT systems that need to communicate with each </a:t>
            </a:r>
            <a:r>
              <a:rPr lang="en-PH" sz="1800" b="0" i="0" u="none" strike="noStrike" baseline="0" dirty="0">
                <a:latin typeface="Times New Roman" panose="02020603050405020304" pitchFamily="18" charset="0"/>
              </a:rPr>
              <a:t>other?</a:t>
            </a:r>
          </a:p>
          <a:p>
            <a:pPr algn="l"/>
            <a:r>
              <a:rPr lang="en-US" sz="1800" b="0" i="0" u="none" strike="noStrike" baseline="0" dirty="0">
                <a:latin typeface="Times New Roman" panose="02020603050405020304" pitchFamily="18" charset="0"/>
              </a:rPr>
              <a:t>Is there a need to key in and update the same details in separate IT systems?</a:t>
            </a:r>
          </a:p>
          <a:p>
            <a:pPr algn="l"/>
            <a:r>
              <a:rPr lang="en-US" sz="1800" b="0" i="0" u="none" strike="noStrike" baseline="0" dirty="0">
                <a:latin typeface="TimesNewRomanPSMT"/>
              </a:rPr>
              <a:t>Is it difficult and time consuming to extract </a:t>
            </a:r>
            <a:r>
              <a:rPr lang="en-US" sz="1800" b="0" i="0" u="none" strike="noStrike" baseline="0" dirty="0">
                <a:latin typeface="Times New Roman" panose="02020603050405020304" pitchFamily="18" charset="0"/>
              </a:rPr>
              <a:t>information from several IT systems?</a:t>
            </a:r>
          </a:p>
          <a:p>
            <a:pPr algn="l"/>
            <a:r>
              <a:rPr lang="en-US" sz="1800" b="0" i="0" u="none" strike="noStrike" baseline="0" dirty="0">
                <a:latin typeface="Times New Roman" panose="02020603050405020304" pitchFamily="18" charset="0"/>
              </a:rPr>
              <a:t>Does the </a:t>
            </a:r>
            <a:r>
              <a:rPr lang="en-US" sz="1800" b="0" i="0" u="none" strike="noStrike" baseline="0" dirty="0" err="1">
                <a:latin typeface="Times New Roman" panose="02020603050405020304" pitchFamily="18" charset="0"/>
              </a:rPr>
              <a:t>organisation</a:t>
            </a:r>
            <a:r>
              <a:rPr lang="en-US" sz="1800" b="0" i="0" u="none" strike="noStrike" baseline="0" dirty="0">
                <a:latin typeface="Times New Roman" panose="02020603050405020304" pitchFamily="18" charset="0"/>
              </a:rPr>
              <a:t> batch upload information from one IT system to another?</a:t>
            </a:r>
          </a:p>
          <a:p>
            <a:pPr algn="l"/>
            <a:r>
              <a:rPr lang="en-US" sz="1800" b="0" i="0" u="none" strike="noStrike" baseline="0" dirty="0">
                <a:latin typeface="Times New Roman" panose="02020603050405020304" pitchFamily="18" charset="0"/>
              </a:rPr>
              <a:t>Is the same information duplicated across </a:t>
            </a:r>
            <a:r>
              <a:rPr lang="en-PH" sz="1800" b="0" i="0" u="none" strike="noStrike" baseline="0" dirty="0">
                <a:latin typeface="Times New Roman" panose="02020603050405020304" pitchFamily="18" charset="0"/>
              </a:rPr>
              <a:t>many IT systems?</a:t>
            </a:r>
          </a:p>
          <a:p>
            <a:pPr algn="l"/>
            <a:r>
              <a:rPr lang="en-US" sz="1800" b="0" i="0" u="none" strike="noStrike" baseline="0" dirty="0">
                <a:latin typeface="Times New Roman" panose="02020603050405020304" pitchFamily="18" charset="0"/>
              </a:rPr>
              <a:t>Is there an issue with data inconsistency </a:t>
            </a:r>
            <a:r>
              <a:rPr lang="en-PH" sz="1800" b="0" i="0" u="none" strike="noStrike" baseline="0" dirty="0">
                <a:latin typeface="Times New Roman" panose="02020603050405020304" pitchFamily="18" charset="0"/>
              </a:rPr>
              <a:t>between IT systems?</a:t>
            </a:r>
            <a:endParaRPr lang="en-PH" dirty="0"/>
          </a:p>
        </p:txBody>
      </p:sp>
    </p:spTree>
    <p:extLst>
      <p:ext uri="{BB962C8B-B14F-4D97-AF65-F5344CB8AC3E}">
        <p14:creationId xmlns:p14="http://schemas.microsoft.com/office/powerpoint/2010/main" val="214325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riginal 5_01_Win32" id="{77344C68-A3F1-476B-8680-97D7F429B46B}" vid="{89780073-58E8-4DFF-BF29-BA99F805284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CDB58277-F8DF-46FF-84EC-EF41B835E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{71BA6201-55EF-42A7-9555-D0AB5FD3361C}tf78438558_win32</Template>
  <TotalTime>683</TotalTime>
  <Words>549</Words>
  <Application>Microsoft Office PowerPoint</Application>
  <PresentationFormat>Widescreen</PresentationFormat>
  <Paragraphs>76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Century Gothic</vt:lpstr>
      <vt:lpstr>Garamond</vt:lpstr>
      <vt:lpstr>Times New Roman</vt:lpstr>
      <vt:lpstr>TimesNewRomanPSMT</vt:lpstr>
      <vt:lpstr>SavonVTI</vt:lpstr>
      <vt:lpstr>Systems Integration</vt:lpstr>
      <vt:lpstr>The What and Why</vt:lpstr>
      <vt:lpstr>Enterprise Integration</vt:lpstr>
      <vt:lpstr>Business Problems</vt:lpstr>
      <vt:lpstr>Discussion Point 1</vt:lpstr>
      <vt:lpstr>PowerPoint Presentation</vt:lpstr>
      <vt:lpstr>Systems Integration Methods</vt:lpstr>
      <vt:lpstr>Discussion point 2</vt:lpstr>
      <vt:lpstr>Integration Types</vt:lpstr>
      <vt:lpstr>Discussion Point 3</vt:lpstr>
      <vt:lpstr>Discussion point 4</vt:lpstr>
      <vt:lpstr>General Steps in Systems Integration </vt:lpstr>
      <vt:lpstr>Discussion point 5</vt:lpstr>
      <vt:lpstr>Assessing the need for Integration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Integration</dc:title>
  <dc:creator>Jessica Partosa</dc:creator>
  <cp:lastModifiedBy>Jessica Partosa</cp:lastModifiedBy>
  <cp:revision>16</cp:revision>
  <dcterms:created xsi:type="dcterms:W3CDTF">2021-08-21T02:56:22Z</dcterms:created>
  <dcterms:modified xsi:type="dcterms:W3CDTF">2026-07-23T06:05:53Z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